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3"/>
  </p:notesMasterIdLst>
  <p:sldIdLst>
    <p:sldId id="256" r:id="rId2"/>
    <p:sldId id="257" r:id="rId3"/>
    <p:sldId id="258" r:id="rId4"/>
    <p:sldId id="260" r:id="rId5"/>
    <p:sldId id="294" r:id="rId6"/>
    <p:sldId id="261" r:id="rId7"/>
    <p:sldId id="273" r:id="rId8"/>
    <p:sldId id="262" r:id="rId9"/>
    <p:sldId id="268" r:id="rId10"/>
    <p:sldId id="270" r:id="rId11"/>
    <p:sldId id="269" r:id="rId12"/>
    <p:sldId id="296" r:id="rId13"/>
    <p:sldId id="265" r:id="rId14"/>
    <p:sldId id="272" r:id="rId15"/>
    <p:sldId id="298" r:id="rId16"/>
    <p:sldId id="287" r:id="rId17"/>
    <p:sldId id="288" r:id="rId18"/>
    <p:sldId id="289" r:id="rId19"/>
    <p:sldId id="290" r:id="rId20"/>
    <p:sldId id="291" r:id="rId21"/>
    <p:sldId id="299" r:id="rId22"/>
    <p:sldId id="300" r:id="rId23"/>
    <p:sldId id="301" r:id="rId24"/>
    <p:sldId id="302" r:id="rId25"/>
    <p:sldId id="303" r:id="rId26"/>
    <p:sldId id="304" r:id="rId27"/>
    <p:sldId id="305" r:id="rId28"/>
    <p:sldId id="306" r:id="rId29"/>
    <p:sldId id="307" r:id="rId30"/>
    <p:sldId id="308" r:id="rId31"/>
    <p:sldId id="274" r:id="rId32"/>
  </p:sldIdLst>
  <p:sldSz cx="12192000" cy="6858000"/>
  <p:notesSz cx="6858000" cy="9144000"/>
  <p:embeddedFontLst>
    <p:embeddedFont>
      <p:font typeface="Arial Unicode MS" panose="020B0604020202020204" charset="-128"/>
      <p:regular r:id="rId34"/>
    </p:embeddedFont>
    <p:embeddedFont>
      <p:font typeface="Arial Rounded MT Bold" panose="020F0704030504030204" pitchFamily="34" charset="0"/>
      <p:regular r:id="rId35"/>
    </p:embeddedFont>
    <p:embeddedFont>
      <p:font typeface="Montserrat" panose="00000500000000000000" pitchFamily="2" charset="0"/>
      <p:regular r:id="rId36"/>
      <p:bold r:id="rId37"/>
      <p:italic r:id="rId38"/>
      <p:boldItalic r:id="rId39"/>
    </p:embeddedFont>
    <p:embeddedFont>
      <p:font typeface="Open Sans" panose="020B0606030504020204" pitchFamily="34" charset="0"/>
      <p:regular r:id="rId40"/>
      <p:bold r:id="rId41"/>
      <p:italic r:id="rId42"/>
      <p:boldItalic r:id="rId43"/>
    </p:embeddedFont>
    <p:embeddedFont>
      <p:font typeface="Open Sans SemiBold" panose="020B0706030804020204" pitchFamily="34" charset="0"/>
      <p:regular r:id="rId44"/>
      <p:bold r:id="rId45"/>
      <p:italic r:id="rId46"/>
      <p:boldItalic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D4D4D"/>
    <a:srgbClr val="5F5F5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E1596B7-EEC4-48EA-B029-CAF5061211C3}" v="14" dt="2026-01-07T15:36:01.86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574" autoAdjust="0"/>
    <p:restoredTop sz="94660"/>
  </p:normalViewPr>
  <p:slideViewPr>
    <p:cSldViewPr snapToGrid="0">
      <p:cViewPr varScale="1">
        <p:scale>
          <a:sx n="78" d="100"/>
          <a:sy n="78" d="100"/>
        </p:scale>
        <p:origin x="1219" y="62"/>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6.fntdata"/><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font" Target="fonts/font9.fntdata"/><Relationship Id="rId47" Type="http://schemas.openxmlformats.org/officeDocument/2006/relationships/font" Target="fonts/font14.fntdata"/><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font" Target="fonts/font12.fntdata"/><Relationship Id="rId53" Type="http://schemas.microsoft.com/office/2015/10/relationships/revisionInfo" Target="revisionInfo.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1.fntdata"/><Relationship Id="rId52"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3" Type="http://schemas.openxmlformats.org/officeDocument/2006/relationships/font" Target="fonts/font10.fntdata"/><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font" Target="fonts/font5.fntdata"/><Relationship Id="rId46" Type="http://schemas.openxmlformats.org/officeDocument/2006/relationships/font" Target="fonts/font13.fntdata"/><Relationship Id="rId20" Type="http://schemas.openxmlformats.org/officeDocument/2006/relationships/slide" Target="slides/slide19.xml"/><Relationship Id="rId41"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4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ishnavi Anumalasetty" userId="6f4fa86b3b188431" providerId="LiveId" clId="{E3595AF3-D8FA-47DE-95C9-DA19CF772BFF}"/>
    <pc:docChg chg="undo custSel addSld delSld modSld sldOrd">
      <pc:chgData name="Vaishnavi Anumalasetty" userId="6f4fa86b3b188431" providerId="LiveId" clId="{E3595AF3-D8FA-47DE-95C9-DA19CF772BFF}" dt="2026-01-07T15:44:40.643" v="368" actId="1076"/>
      <pc:docMkLst>
        <pc:docMk/>
      </pc:docMkLst>
      <pc:sldChg chg="modSp mod">
        <pc:chgData name="Vaishnavi Anumalasetty" userId="6f4fa86b3b188431" providerId="LiveId" clId="{E3595AF3-D8FA-47DE-95C9-DA19CF772BFF}" dt="2026-01-07T14:57:42.692" v="249"/>
        <pc:sldMkLst>
          <pc:docMk/>
          <pc:sldMk cId="0" sldId="256"/>
        </pc:sldMkLst>
        <pc:spChg chg="mod">
          <ac:chgData name="Vaishnavi Anumalasetty" userId="6f4fa86b3b188431" providerId="LiveId" clId="{E3595AF3-D8FA-47DE-95C9-DA19CF772BFF}" dt="2026-01-07T14:57:42.692" v="249"/>
          <ac:spMkLst>
            <pc:docMk/>
            <pc:sldMk cId="0" sldId="256"/>
            <ac:spMk id="90" creationId="{00000000-0000-0000-0000-000000000000}"/>
          </ac:spMkLst>
        </pc:spChg>
      </pc:sldChg>
      <pc:sldChg chg="addSp delSp modSp mod">
        <pc:chgData name="Vaishnavi Anumalasetty" userId="6f4fa86b3b188431" providerId="LiveId" clId="{E3595AF3-D8FA-47DE-95C9-DA19CF772BFF}" dt="2026-01-07T15:34:09.963" v="297" actId="1076"/>
        <pc:sldMkLst>
          <pc:docMk/>
          <pc:sldMk cId="0" sldId="262"/>
        </pc:sldMkLst>
        <pc:picChg chg="del">
          <ac:chgData name="Vaishnavi Anumalasetty" userId="6f4fa86b3b188431" providerId="LiveId" clId="{E3595AF3-D8FA-47DE-95C9-DA19CF772BFF}" dt="2026-01-07T15:33:56.504" v="294" actId="21"/>
          <ac:picMkLst>
            <pc:docMk/>
            <pc:sldMk cId="0" sldId="262"/>
            <ac:picMk id="2" creationId="{00000000-0000-0000-0000-000000000000}"/>
          </ac:picMkLst>
        </pc:picChg>
        <pc:picChg chg="add mod">
          <ac:chgData name="Vaishnavi Anumalasetty" userId="6f4fa86b3b188431" providerId="LiveId" clId="{E3595AF3-D8FA-47DE-95C9-DA19CF772BFF}" dt="2026-01-07T15:34:09.963" v="297" actId="1076"/>
          <ac:picMkLst>
            <pc:docMk/>
            <pc:sldMk cId="0" sldId="262"/>
            <ac:picMk id="4" creationId="{45AF7ACE-0272-4E25-DC3C-93B93238D86A}"/>
          </ac:picMkLst>
        </pc:picChg>
      </pc:sldChg>
      <pc:sldChg chg="addSp delSp modSp mod">
        <pc:chgData name="Vaishnavi Anumalasetty" userId="6f4fa86b3b188431" providerId="LiveId" clId="{E3595AF3-D8FA-47DE-95C9-DA19CF772BFF}" dt="2026-01-07T15:38:05.037" v="327"/>
        <pc:sldMkLst>
          <pc:docMk/>
          <pc:sldMk cId="3127999376" sldId="268"/>
        </pc:sldMkLst>
        <pc:spChg chg="del mod">
          <ac:chgData name="Vaishnavi Anumalasetty" userId="6f4fa86b3b188431" providerId="LiveId" clId="{E3595AF3-D8FA-47DE-95C9-DA19CF772BFF}" dt="2026-01-07T15:38:05.037" v="327"/>
          <ac:spMkLst>
            <pc:docMk/>
            <pc:sldMk cId="3127999376" sldId="268"/>
            <ac:spMk id="187" creationId="{00000000-0000-0000-0000-000000000000}"/>
          </ac:spMkLst>
        </pc:spChg>
        <pc:picChg chg="del">
          <ac:chgData name="Vaishnavi Anumalasetty" userId="6f4fa86b3b188431" providerId="LiveId" clId="{E3595AF3-D8FA-47DE-95C9-DA19CF772BFF}" dt="2026-01-07T15:34:18.365" v="298" actId="21"/>
          <ac:picMkLst>
            <pc:docMk/>
            <pc:sldMk cId="3127999376" sldId="268"/>
            <ac:picMk id="2" creationId="{00000000-0000-0000-0000-000000000000}"/>
          </ac:picMkLst>
        </pc:picChg>
        <pc:picChg chg="add mod">
          <ac:chgData name="Vaishnavi Anumalasetty" userId="6f4fa86b3b188431" providerId="LiveId" clId="{E3595AF3-D8FA-47DE-95C9-DA19CF772BFF}" dt="2026-01-07T15:38:03.869" v="325" actId="1076"/>
          <ac:picMkLst>
            <pc:docMk/>
            <pc:sldMk cId="3127999376" sldId="268"/>
            <ac:picMk id="4" creationId="{925B28BB-AF3B-4388-E795-DA92B1A8D4FD}"/>
          </ac:picMkLst>
        </pc:picChg>
      </pc:sldChg>
      <pc:sldChg chg="addSp delSp modSp mod">
        <pc:chgData name="Vaishnavi Anumalasetty" userId="6f4fa86b3b188431" providerId="LiveId" clId="{E3595AF3-D8FA-47DE-95C9-DA19CF772BFF}" dt="2026-01-07T15:36:17.608" v="313" actId="1076"/>
        <pc:sldMkLst>
          <pc:docMk/>
          <pc:sldMk cId="1723396717" sldId="269"/>
        </pc:sldMkLst>
        <pc:picChg chg="del">
          <ac:chgData name="Vaishnavi Anumalasetty" userId="6f4fa86b3b188431" providerId="LiveId" clId="{E3595AF3-D8FA-47DE-95C9-DA19CF772BFF}" dt="2026-01-07T15:35:48.352" v="307" actId="21"/>
          <ac:picMkLst>
            <pc:docMk/>
            <pc:sldMk cId="1723396717" sldId="269"/>
            <ac:picMk id="3" creationId="{00000000-0000-0000-0000-000000000000}"/>
          </ac:picMkLst>
        </pc:picChg>
        <pc:picChg chg="add mod">
          <ac:chgData name="Vaishnavi Anumalasetty" userId="6f4fa86b3b188431" providerId="LiveId" clId="{E3595AF3-D8FA-47DE-95C9-DA19CF772BFF}" dt="2026-01-07T15:36:17.608" v="313" actId="1076"/>
          <ac:picMkLst>
            <pc:docMk/>
            <pc:sldMk cId="1723396717" sldId="269"/>
            <ac:picMk id="4" creationId="{D28E792B-2701-1CC7-56BA-FEAC53EF51ED}"/>
          </ac:picMkLst>
        </pc:picChg>
      </pc:sldChg>
      <pc:sldChg chg="addSp delSp modSp mod">
        <pc:chgData name="Vaishnavi Anumalasetty" userId="6f4fa86b3b188431" providerId="LiveId" clId="{E3595AF3-D8FA-47DE-95C9-DA19CF772BFF}" dt="2026-01-07T15:35:32.151" v="306" actId="1076"/>
        <pc:sldMkLst>
          <pc:docMk/>
          <pc:sldMk cId="38071838" sldId="270"/>
        </pc:sldMkLst>
        <pc:picChg chg="del">
          <ac:chgData name="Vaishnavi Anumalasetty" userId="6f4fa86b3b188431" providerId="LiveId" clId="{E3595AF3-D8FA-47DE-95C9-DA19CF772BFF}" dt="2026-01-07T15:34:44.397" v="299" actId="21"/>
          <ac:picMkLst>
            <pc:docMk/>
            <pc:sldMk cId="38071838" sldId="270"/>
            <ac:picMk id="3" creationId="{00000000-0000-0000-0000-000000000000}"/>
          </ac:picMkLst>
        </pc:picChg>
        <pc:picChg chg="add mod">
          <ac:chgData name="Vaishnavi Anumalasetty" userId="6f4fa86b3b188431" providerId="LiveId" clId="{E3595AF3-D8FA-47DE-95C9-DA19CF772BFF}" dt="2026-01-07T15:35:32.151" v="306" actId="1076"/>
          <ac:picMkLst>
            <pc:docMk/>
            <pc:sldMk cId="38071838" sldId="270"/>
            <ac:picMk id="4" creationId="{63D0AE44-D3A5-59F4-1E12-7D56C08B706E}"/>
          </ac:picMkLst>
        </pc:picChg>
      </pc:sldChg>
      <pc:sldChg chg="addSp delSp modSp mod">
        <pc:chgData name="Vaishnavi Anumalasetty" userId="6f4fa86b3b188431" providerId="LiveId" clId="{E3595AF3-D8FA-47DE-95C9-DA19CF772BFF}" dt="2026-01-07T15:33:43.228" v="293" actId="1076"/>
        <pc:sldMkLst>
          <pc:docMk/>
          <pc:sldMk cId="1189710424" sldId="273"/>
        </pc:sldMkLst>
        <pc:picChg chg="add mod">
          <ac:chgData name="Vaishnavi Anumalasetty" userId="6f4fa86b3b188431" providerId="LiveId" clId="{E3595AF3-D8FA-47DE-95C9-DA19CF772BFF}" dt="2026-01-07T15:27:33.750" v="288" actId="14100"/>
          <ac:picMkLst>
            <pc:docMk/>
            <pc:sldMk cId="1189710424" sldId="273"/>
            <ac:picMk id="6" creationId="{413E1A1F-6B3C-E453-D401-0358F8C78F2A}"/>
          </ac:picMkLst>
        </pc:picChg>
        <pc:picChg chg="add mod">
          <ac:chgData name="Vaishnavi Anumalasetty" userId="6f4fa86b3b188431" providerId="LiveId" clId="{E3595AF3-D8FA-47DE-95C9-DA19CF772BFF}" dt="2026-01-07T15:33:43.228" v="293" actId="1076"/>
          <ac:picMkLst>
            <pc:docMk/>
            <pc:sldMk cId="1189710424" sldId="273"/>
            <ac:picMk id="8" creationId="{C9B0F7BA-73BF-5922-477D-19B427AFD72C}"/>
          </ac:picMkLst>
        </pc:picChg>
        <pc:picChg chg="del">
          <ac:chgData name="Vaishnavi Anumalasetty" userId="6f4fa86b3b188431" providerId="LiveId" clId="{E3595AF3-D8FA-47DE-95C9-DA19CF772BFF}" dt="2026-01-07T15:26:48.897" v="277" actId="21"/>
          <ac:picMkLst>
            <pc:docMk/>
            <pc:sldMk cId="1189710424" sldId="273"/>
            <ac:picMk id="11" creationId="{DF990050-9508-5B99-5BDD-A3AB2B4E8D1C}"/>
          </ac:picMkLst>
        </pc:picChg>
      </pc:sldChg>
      <pc:sldChg chg="modSp mod">
        <pc:chgData name="Vaishnavi Anumalasetty" userId="6f4fa86b3b188431" providerId="LiveId" clId="{E3595AF3-D8FA-47DE-95C9-DA19CF772BFF}" dt="2026-01-07T14:58:40.630" v="250" actId="1076"/>
        <pc:sldMkLst>
          <pc:docMk/>
          <pc:sldMk cId="1591595540" sldId="287"/>
        </pc:sldMkLst>
        <pc:spChg chg="mod">
          <ac:chgData name="Vaishnavi Anumalasetty" userId="6f4fa86b3b188431" providerId="LiveId" clId="{E3595AF3-D8FA-47DE-95C9-DA19CF772BFF}" dt="2026-01-07T14:58:40.630" v="250" actId="1076"/>
          <ac:spMkLst>
            <pc:docMk/>
            <pc:sldMk cId="1591595540" sldId="287"/>
            <ac:spMk id="8" creationId="{7BAA0223-07D1-7D85-A88F-B48B912B18BD}"/>
          </ac:spMkLst>
        </pc:spChg>
      </pc:sldChg>
      <pc:sldChg chg="modSp add mod ord">
        <pc:chgData name="Vaishnavi Anumalasetty" userId="6f4fa86b3b188431" providerId="LiveId" clId="{E3595AF3-D8FA-47DE-95C9-DA19CF772BFF}" dt="2026-01-07T14:59:08.516" v="251" actId="20577"/>
        <pc:sldMkLst>
          <pc:docMk/>
          <pc:sldMk cId="1181199825" sldId="303"/>
        </pc:sldMkLst>
        <pc:spChg chg="mod">
          <ac:chgData name="Vaishnavi Anumalasetty" userId="6f4fa86b3b188431" providerId="LiveId" clId="{E3595AF3-D8FA-47DE-95C9-DA19CF772BFF}" dt="2026-01-07T14:59:08.516" v="251" actId="20577"/>
          <ac:spMkLst>
            <pc:docMk/>
            <pc:sldMk cId="1181199825" sldId="303"/>
            <ac:spMk id="3" creationId="{6FD1D853-83FA-3771-D183-75719B90DD35}"/>
          </ac:spMkLst>
        </pc:spChg>
      </pc:sldChg>
      <pc:sldChg chg="new del">
        <pc:chgData name="Vaishnavi Anumalasetty" userId="6f4fa86b3b188431" providerId="LiveId" clId="{E3595AF3-D8FA-47DE-95C9-DA19CF772BFF}" dt="2026-01-07T14:40:31.693" v="1" actId="680"/>
        <pc:sldMkLst>
          <pc:docMk/>
          <pc:sldMk cId="3109738463" sldId="303"/>
        </pc:sldMkLst>
      </pc:sldChg>
      <pc:sldChg chg="addSp delSp modSp add mod ord">
        <pc:chgData name="Vaishnavi Anumalasetty" userId="6f4fa86b3b188431" providerId="LiveId" clId="{E3595AF3-D8FA-47DE-95C9-DA19CF772BFF}" dt="2026-01-07T14:48:23.926" v="54" actId="20577"/>
        <pc:sldMkLst>
          <pc:docMk/>
          <pc:sldMk cId="333124138" sldId="304"/>
        </pc:sldMkLst>
        <pc:spChg chg="add del mod">
          <ac:chgData name="Vaishnavi Anumalasetty" userId="6f4fa86b3b188431" providerId="LiveId" clId="{E3595AF3-D8FA-47DE-95C9-DA19CF772BFF}" dt="2026-01-07T14:48:23.926" v="54" actId="20577"/>
          <ac:spMkLst>
            <pc:docMk/>
            <pc:sldMk cId="333124138" sldId="304"/>
            <ac:spMk id="7" creationId="{97C3E154-FE65-4C2D-8F1D-9105F7DB7F10}"/>
          </ac:spMkLst>
        </pc:spChg>
        <pc:spChg chg="mod">
          <ac:chgData name="Vaishnavi Anumalasetty" userId="6f4fa86b3b188431" providerId="LiveId" clId="{E3595AF3-D8FA-47DE-95C9-DA19CF772BFF}" dt="2026-01-07T14:47:11.052" v="35" actId="1076"/>
          <ac:spMkLst>
            <pc:docMk/>
            <pc:sldMk cId="333124138" sldId="304"/>
            <ac:spMk id="9" creationId="{C9D9F775-AE4A-6C82-7CAC-390D37A32C7B}"/>
          </ac:spMkLst>
        </pc:spChg>
      </pc:sldChg>
      <pc:sldChg chg="addSp delSp modSp add mod ord">
        <pc:chgData name="Vaishnavi Anumalasetty" userId="6f4fa86b3b188431" providerId="LiveId" clId="{E3595AF3-D8FA-47DE-95C9-DA19CF772BFF}" dt="2026-01-07T15:44:40.643" v="368" actId="1076"/>
        <pc:sldMkLst>
          <pc:docMk/>
          <pc:sldMk cId="2250910684" sldId="305"/>
        </pc:sldMkLst>
        <pc:spChg chg="mod">
          <ac:chgData name="Vaishnavi Anumalasetty" userId="6f4fa86b3b188431" providerId="LiveId" clId="{E3595AF3-D8FA-47DE-95C9-DA19CF772BFF}" dt="2026-01-07T15:40:28.883" v="364" actId="20577"/>
          <ac:spMkLst>
            <pc:docMk/>
            <pc:sldMk cId="2250910684" sldId="305"/>
            <ac:spMk id="183" creationId="{55117A90-217C-DF28-77F5-191210C62763}"/>
          </ac:spMkLst>
        </pc:spChg>
        <pc:spChg chg="mod">
          <ac:chgData name="Vaishnavi Anumalasetty" userId="6f4fa86b3b188431" providerId="LiveId" clId="{E3595AF3-D8FA-47DE-95C9-DA19CF772BFF}" dt="2026-01-07T14:52:14.115" v="156" actId="20577"/>
          <ac:spMkLst>
            <pc:docMk/>
            <pc:sldMk cId="2250910684" sldId="305"/>
            <ac:spMk id="186" creationId="{74C12232-2EE3-C314-10A8-4F077731001F}"/>
          </ac:spMkLst>
        </pc:spChg>
        <pc:spChg chg="del mod">
          <ac:chgData name="Vaishnavi Anumalasetty" userId="6f4fa86b3b188431" providerId="LiveId" clId="{E3595AF3-D8FA-47DE-95C9-DA19CF772BFF}" dt="2026-01-07T15:39:38.659" v="331"/>
          <ac:spMkLst>
            <pc:docMk/>
            <pc:sldMk cId="2250910684" sldId="305"/>
            <ac:spMk id="187" creationId="{8299C67E-A593-F1EF-BA10-B1C6CD9E4D09}"/>
          </ac:spMkLst>
        </pc:spChg>
        <pc:picChg chg="del">
          <ac:chgData name="Vaishnavi Anumalasetty" userId="6f4fa86b3b188431" providerId="LiveId" clId="{E3595AF3-D8FA-47DE-95C9-DA19CF772BFF}" dt="2026-01-07T14:51:05.437" v="64" actId="21"/>
          <ac:picMkLst>
            <pc:docMk/>
            <pc:sldMk cId="2250910684" sldId="305"/>
            <ac:picMk id="2" creationId="{5FB84D6B-FE05-72F2-7CDB-FE0338F56612}"/>
          </ac:picMkLst>
        </pc:picChg>
        <pc:picChg chg="add mod">
          <ac:chgData name="Vaishnavi Anumalasetty" userId="6f4fa86b3b188431" providerId="LiveId" clId="{E3595AF3-D8FA-47DE-95C9-DA19CF772BFF}" dt="2026-01-07T15:44:40.643" v="368" actId="1076"/>
          <ac:picMkLst>
            <pc:docMk/>
            <pc:sldMk cId="2250910684" sldId="305"/>
            <ac:picMk id="3" creationId="{DCDC73D6-8284-9B92-A35D-71BEAC28D38E}"/>
          </ac:picMkLst>
        </pc:picChg>
        <pc:picChg chg="add del mod">
          <ac:chgData name="Vaishnavi Anumalasetty" userId="6f4fa86b3b188431" providerId="LiveId" clId="{E3595AF3-D8FA-47DE-95C9-DA19CF772BFF}" dt="2026-01-07T15:39:16.183" v="328" actId="21"/>
          <ac:picMkLst>
            <pc:docMk/>
            <pc:sldMk cId="2250910684" sldId="305"/>
            <ac:picMk id="4" creationId="{9D13AB60-D58D-93B0-B01C-3A8C729A0D87}"/>
          </ac:picMkLst>
        </pc:picChg>
        <pc:picChg chg="add del mod">
          <ac:chgData name="Vaishnavi Anumalasetty" userId="6f4fa86b3b188431" providerId="LiveId" clId="{E3595AF3-D8FA-47DE-95C9-DA19CF772BFF}" dt="2026-01-07T15:44:14.483" v="365" actId="21"/>
          <ac:picMkLst>
            <pc:docMk/>
            <pc:sldMk cId="2250910684" sldId="305"/>
            <ac:picMk id="6" creationId="{3E748A79-E14C-89C6-B411-44BA98039980}"/>
          </ac:picMkLst>
        </pc:picChg>
      </pc:sldChg>
      <pc:sldChg chg="add del ord">
        <pc:chgData name="Vaishnavi Anumalasetty" userId="6f4fa86b3b188431" providerId="LiveId" clId="{E3595AF3-D8FA-47DE-95C9-DA19CF772BFF}" dt="2026-01-07T14:50:33.042" v="60" actId="2696"/>
        <pc:sldMkLst>
          <pc:docMk/>
          <pc:sldMk cId="2554092442" sldId="305"/>
        </pc:sldMkLst>
      </pc:sldChg>
      <pc:sldChg chg="addSp delSp modSp add mod ord">
        <pc:chgData name="Vaishnavi Anumalasetty" userId="6f4fa86b3b188431" providerId="LiveId" clId="{E3595AF3-D8FA-47DE-95C9-DA19CF772BFF}" dt="2026-01-07T14:59:18.673" v="252" actId="20577"/>
        <pc:sldMkLst>
          <pc:docMk/>
          <pc:sldMk cId="3879399050" sldId="306"/>
        </pc:sldMkLst>
        <pc:spChg chg="add del mod">
          <ac:chgData name="Vaishnavi Anumalasetty" userId="6f4fa86b3b188431" providerId="LiveId" clId="{E3595AF3-D8FA-47DE-95C9-DA19CF772BFF}" dt="2026-01-07T14:59:18.673" v="252" actId="20577"/>
          <ac:spMkLst>
            <pc:docMk/>
            <pc:sldMk cId="3879399050" sldId="306"/>
            <ac:spMk id="3" creationId="{4F5D8B0A-640C-9977-CC36-D08B2557B57B}"/>
          </ac:spMkLst>
        </pc:spChg>
      </pc:sldChg>
      <pc:sldChg chg="modSp add mod ord">
        <pc:chgData name="Vaishnavi Anumalasetty" userId="6f4fa86b3b188431" providerId="LiveId" clId="{E3595AF3-D8FA-47DE-95C9-DA19CF772BFF}" dt="2026-01-07T14:55:40.341" v="239" actId="2711"/>
        <pc:sldMkLst>
          <pc:docMk/>
          <pc:sldMk cId="1639736728" sldId="307"/>
        </pc:sldMkLst>
        <pc:spChg chg="mod">
          <ac:chgData name="Vaishnavi Anumalasetty" userId="6f4fa86b3b188431" providerId="LiveId" clId="{E3595AF3-D8FA-47DE-95C9-DA19CF772BFF}" dt="2026-01-07T14:55:40.341" v="239" actId="2711"/>
          <ac:spMkLst>
            <pc:docMk/>
            <pc:sldMk cId="1639736728" sldId="307"/>
            <ac:spMk id="7" creationId="{A9E95107-80D5-AC52-21D5-C51611B6CA08}"/>
          </ac:spMkLst>
        </pc:spChg>
        <pc:spChg chg="mod">
          <ac:chgData name="Vaishnavi Anumalasetty" userId="6f4fa86b3b188431" providerId="LiveId" clId="{E3595AF3-D8FA-47DE-95C9-DA19CF772BFF}" dt="2026-01-07T14:55:03.936" v="206" actId="2711"/>
          <ac:spMkLst>
            <pc:docMk/>
            <pc:sldMk cId="1639736728" sldId="307"/>
            <ac:spMk id="9" creationId="{F51B6AAC-2AF0-D518-C7F0-CBA36D18ACA5}"/>
          </ac:spMkLst>
        </pc:spChg>
      </pc:sldChg>
      <pc:sldChg chg="addSp delSp modSp add mod ord">
        <pc:chgData name="Vaishnavi Anumalasetty" userId="6f4fa86b3b188431" providerId="LiveId" clId="{E3595AF3-D8FA-47DE-95C9-DA19CF772BFF}" dt="2026-01-07T15:24:23.659" v="276" actId="20577"/>
        <pc:sldMkLst>
          <pc:docMk/>
          <pc:sldMk cId="3960110315" sldId="308"/>
        </pc:sldMkLst>
        <pc:spChg chg="mod">
          <ac:chgData name="Vaishnavi Anumalasetty" userId="6f4fa86b3b188431" providerId="LiveId" clId="{E3595AF3-D8FA-47DE-95C9-DA19CF772BFF}" dt="2026-01-07T15:24:23.659" v="276" actId="20577"/>
          <ac:spMkLst>
            <pc:docMk/>
            <pc:sldMk cId="3960110315" sldId="308"/>
            <ac:spMk id="183" creationId="{683D569C-150A-140F-DF59-B9DB2127989A}"/>
          </ac:spMkLst>
        </pc:spChg>
        <pc:spChg chg="del mod">
          <ac:chgData name="Vaishnavi Anumalasetty" userId="6f4fa86b3b188431" providerId="LiveId" clId="{E3595AF3-D8FA-47DE-95C9-DA19CF772BFF}" dt="2026-01-07T15:24:05.751" v="261"/>
          <ac:spMkLst>
            <pc:docMk/>
            <pc:sldMk cId="3960110315" sldId="308"/>
            <ac:spMk id="186" creationId="{2656BD43-7783-DCE8-B02A-3BE451799034}"/>
          </ac:spMkLst>
        </pc:spChg>
        <pc:spChg chg="del mod">
          <ac:chgData name="Vaishnavi Anumalasetty" userId="6f4fa86b3b188431" providerId="LiveId" clId="{E3595AF3-D8FA-47DE-95C9-DA19CF772BFF}" dt="2026-01-07T14:56:28.696" v="246"/>
          <ac:spMkLst>
            <pc:docMk/>
            <pc:sldMk cId="3960110315" sldId="308"/>
            <ac:spMk id="187" creationId="{C14E1298-1BF3-1CBD-470E-BC2EBF5D3B74}"/>
          </ac:spMkLst>
        </pc:spChg>
        <pc:picChg chg="add mod">
          <ac:chgData name="Vaishnavi Anumalasetty" userId="6f4fa86b3b188431" providerId="LiveId" clId="{E3595AF3-D8FA-47DE-95C9-DA19CF772BFF}" dt="2026-01-07T15:24:04.260" v="259" actId="1076"/>
          <ac:picMkLst>
            <pc:docMk/>
            <pc:sldMk cId="3960110315" sldId="308"/>
            <ac:picMk id="3" creationId="{12CA6922-8D5D-C7E0-0907-C4D0658E6982}"/>
          </ac:picMkLst>
        </pc:picChg>
        <pc:picChg chg="del">
          <ac:chgData name="Vaishnavi Anumalasetty" userId="6f4fa86b3b188431" providerId="LiveId" clId="{E3595AF3-D8FA-47DE-95C9-DA19CF772BFF}" dt="2026-01-07T14:56:12.924" v="243" actId="21"/>
          <ac:picMkLst>
            <pc:docMk/>
            <pc:sldMk cId="3960110315" sldId="308"/>
            <ac:picMk id="4" creationId="{8885E7C2-E6CA-6817-750F-39F856B9BB5C}"/>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62413941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9" name="Google Shape;10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7" name="Google Shape;147;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2" name="Google Shape;16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0" name="Google Shape;180;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80" name="Google Shape;180;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0" name="Google Shape;180;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0" name="Google Shape;180;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3" name="Google Shape;223;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a:extLst>
            <a:ext uri="{FF2B5EF4-FFF2-40B4-BE49-F238E27FC236}">
              <a16:creationId xmlns:a16="http://schemas.microsoft.com/office/drawing/2014/main" id="{6D9D6C31-1007-533E-B471-13507375B11E}"/>
            </a:ext>
          </a:extLst>
        </p:cNvPr>
        <p:cNvGrpSpPr/>
        <p:nvPr/>
      </p:nvGrpSpPr>
      <p:grpSpPr>
        <a:xfrm>
          <a:off x="0" y="0"/>
          <a:ext cx="0" cy="0"/>
          <a:chOff x="0" y="0"/>
          <a:chExt cx="0" cy="0"/>
        </a:xfrm>
      </p:grpSpPr>
      <p:sp>
        <p:nvSpPr>
          <p:cNvPr id="222" name="Google Shape;222;p10:notes">
            <a:extLst>
              <a:ext uri="{FF2B5EF4-FFF2-40B4-BE49-F238E27FC236}">
                <a16:creationId xmlns:a16="http://schemas.microsoft.com/office/drawing/2014/main" id="{F58A2A1F-CDC7-D164-30E1-EF9860FA5BC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3" name="Google Shape;223;p10:notes">
            <a:extLst>
              <a:ext uri="{FF2B5EF4-FFF2-40B4-BE49-F238E27FC236}">
                <a16:creationId xmlns:a16="http://schemas.microsoft.com/office/drawing/2014/main" id="{91B9C835-9283-3A88-5C5B-46473451083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7732227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a:extLst>
            <a:ext uri="{FF2B5EF4-FFF2-40B4-BE49-F238E27FC236}">
              <a16:creationId xmlns:a16="http://schemas.microsoft.com/office/drawing/2014/main" id="{E29D59A3-9BFC-8051-EF8C-6F2AD91222DC}"/>
            </a:ext>
          </a:extLst>
        </p:cNvPr>
        <p:cNvGrpSpPr/>
        <p:nvPr/>
      </p:nvGrpSpPr>
      <p:grpSpPr>
        <a:xfrm>
          <a:off x="0" y="0"/>
          <a:ext cx="0" cy="0"/>
          <a:chOff x="0" y="0"/>
          <a:chExt cx="0" cy="0"/>
        </a:xfrm>
      </p:grpSpPr>
      <p:sp>
        <p:nvSpPr>
          <p:cNvPr id="222" name="Google Shape;222;p10:notes">
            <a:extLst>
              <a:ext uri="{FF2B5EF4-FFF2-40B4-BE49-F238E27FC236}">
                <a16:creationId xmlns:a16="http://schemas.microsoft.com/office/drawing/2014/main" id="{6007D75E-3251-1D89-AF30-7980425018F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3" name="Google Shape;223;p10:notes">
            <a:extLst>
              <a:ext uri="{FF2B5EF4-FFF2-40B4-BE49-F238E27FC236}">
                <a16:creationId xmlns:a16="http://schemas.microsoft.com/office/drawing/2014/main" id="{6EAA224A-A551-2BCE-33D3-5C8507AB710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9321929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a:extLst>
            <a:ext uri="{FF2B5EF4-FFF2-40B4-BE49-F238E27FC236}">
              <a16:creationId xmlns:a16="http://schemas.microsoft.com/office/drawing/2014/main" id="{BEA77E0A-BEE0-F07A-9B0C-10348C6A56DE}"/>
            </a:ext>
          </a:extLst>
        </p:cNvPr>
        <p:cNvGrpSpPr/>
        <p:nvPr/>
      </p:nvGrpSpPr>
      <p:grpSpPr>
        <a:xfrm>
          <a:off x="0" y="0"/>
          <a:ext cx="0" cy="0"/>
          <a:chOff x="0" y="0"/>
          <a:chExt cx="0" cy="0"/>
        </a:xfrm>
      </p:grpSpPr>
      <p:sp>
        <p:nvSpPr>
          <p:cNvPr id="222" name="Google Shape;222;p10:notes">
            <a:extLst>
              <a:ext uri="{FF2B5EF4-FFF2-40B4-BE49-F238E27FC236}">
                <a16:creationId xmlns:a16="http://schemas.microsoft.com/office/drawing/2014/main" id="{4006A291-DA47-B4FE-25EE-FA1C378B7D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3" name="Google Shape;223;p10:notes">
            <a:extLst>
              <a:ext uri="{FF2B5EF4-FFF2-40B4-BE49-F238E27FC236}">
                <a16:creationId xmlns:a16="http://schemas.microsoft.com/office/drawing/2014/main" id="{4BB6F5AF-9361-D0D5-DA46-B25BA01091D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6991296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a:extLst>
            <a:ext uri="{FF2B5EF4-FFF2-40B4-BE49-F238E27FC236}">
              <a16:creationId xmlns:a16="http://schemas.microsoft.com/office/drawing/2014/main" id="{1B775027-57A9-F9A1-2365-A36C6A815397}"/>
            </a:ext>
          </a:extLst>
        </p:cNvPr>
        <p:cNvGrpSpPr/>
        <p:nvPr/>
      </p:nvGrpSpPr>
      <p:grpSpPr>
        <a:xfrm>
          <a:off x="0" y="0"/>
          <a:ext cx="0" cy="0"/>
          <a:chOff x="0" y="0"/>
          <a:chExt cx="0" cy="0"/>
        </a:xfrm>
      </p:grpSpPr>
      <p:sp>
        <p:nvSpPr>
          <p:cNvPr id="222" name="Google Shape;222;p10:notes">
            <a:extLst>
              <a:ext uri="{FF2B5EF4-FFF2-40B4-BE49-F238E27FC236}">
                <a16:creationId xmlns:a16="http://schemas.microsoft.com/office/drawing/2014/main" id="{DE8E2C23-6DA8-CEAB-62B8-BFA74FF2031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3" name="Google Shape;223;p10:notes">
            <a:extLst>
              <a:ext uri="{FF2B5EF4-FFF2-40B4-BE49-F238E27FC236}">
                <a16:creationId xmlns:a16="http://schemas.microsoft.com/office/drawing/2014/main" id="{7858CAD1-F02D-C15E-8B53-A3B92A31DE6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8527159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a:extLst>
            <a:ext uri="{FF2B5EF4-FFF2-40B4-BE49-F238E27FC236}">
              <a16:creationId xmlns:a16="http://schemas.microsoft.com/office/drawing/2014/main" id="{D96A62CE-E7E6-F9FC-B8B7-8E65FF4644B7}"/>
            </a:ext>
          </a:extLst>
        </p:cNvPr>
        <p:cNvGrpSpPr/>
        <p:nvPr/>
      </p:nvGrpSpPr>
      <p:grpSpPr>
        <a:xfrm>
          <a:off x="0" y="0"/>
          <a:ext cx="0" cy="0"/>
          <a:chOff x="0" y="0"/>
          <a:chExt cx="0" cy="0"/>
        </a:xfrm>
      </p:grpSpPr>
      <p:sp>
        <p:nvSpPr>
          <p:cNvPr id="222" name="Google Shape;222;p10:notes">
            <a:extLst>
              <a:ext uri="{FF2B5EF4-FFF2-40B4-BE49-F238E27FC236}">
                <a16:creationId xmlns:a16="http://schemas.microsoft.com/office/drawing/2014/main" id="{746DE603-7A75-5681-40AE-E27D64B77ED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3" name="Google Shape;223;p10:notes">
            <a:extLst>
              <a:ext uri="{FF2B5EF4-FFF2-40B4-BE49-F238E27FC236}">
                <a16:creationId xmlns:a16="http://schemas.microsoft.com/office/drawing/2014/main" id="{A4874B94-A764-FD71-834C-448F349D2F3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1169270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a:extLst>
            <a:ext uri="{FF2B5EF4-FFF2-40B4-BE49-F238E27FC236}">
              <a16:creationId xmlns:a16="http://schemas.microsoft.com/office/drawing/2014/main" id="{3B184CBA-856D-A409-5F9D-EFB5C71EC421}"/>
            </a:ext>
          </a:extLst>
        </p:cNvPr>
        <p:cNvGrpSpPr/>
        <p:nvPr/>
      </p:nvGrpSpPr>
      <p:grpSpPr>
        <a:xfrm>
          <a:off x="0" y="0"/>
          <a:ext cx="0" cy="0"/>
          <a:chOff x="0" y="0"/>
          <a:chExt cx="0" cy="0"/>
        </a:xfrm>
      </p:grpSpPr>
      <p:sp>
        <p:nvSpPr>
          <p:cNvPr id="179" name="Google Shape;179;p7:notes">
            <a:extLst>
              <a:ext uri="{FF2B5EF4-FFF2-40B4-BE49-F238E27FC236}">
                <a16:creationId xmlns:a16="http://schemas.microsoft.com/office/drawing/2014/main" id="{27FDF566-5CA2-2C8E-AC73-D23D91CB74E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80" name="Google Shape;180;p7:notes">
            <a:extLst>
              <a:ext uri="{FF2B5EF4-FFF2-40B4-BE49-F238E27FC236}">
                <a16:creationId xmlns:a16="http://schemas.microsoft.com/office/drawing/2014/main" id="{D2CC8CAD-1035-6BA9-2E0C-C50A815A11B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666398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a:extLst>
            <a:ext uri="{FF2B5EF4-FFF2-40B4-BE49-F238E27FC236}">
              <a16:creationId xmlns:a16="http://schemas.microsoft.com/office/drawing/2014/main" id="{AED582D9-4BD6-561D-92CB-3E17D520F00D}"/>
            </a:ext>
          </a:extLst>
        </p:cNvPr>
        <p:cNvGrpSpPr/>
        <p:nvPr/>
      </p:nvGrpSpPr>
      <p:grpSpPr>
        <a:xfrm>
          <a:off x="0" y="0"/>
          <a:ext cx="0" cy="0"/>
          <a:chOff x="0" y="0"/>
          <a:chExt cx="0" cy="0"/>
        </a:xfrm>
      </p:grpSpPr>
      <p:sp>
        <p:nvSpPr>
          <p:cNvPr id="179" name="Google Shape;179;p7:notes">
            <a:extLst>
              <a:ext uri="{FF2B5EF4-FFF2-40B4-BE49-F238E27FC236}">
                <a16:creationId xmlns:a16="http://schemas.microsoft.com/office/drawing/2014/main" id="{CF76854A-50C1-723C-783E-C5ED029A271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80" name="Google Shape;180;p7:notes">
            <a:extLst>
              <a:ext uri="{FF2B5EF4-FFF2-40B4-BE49-F238E27FC236}">
                <a16:creationId xmlns:a16="http://schemas.microsoft.com/office/drawing/2014/main" id="{B61426A5-05BF-02A4-1649-3666BA1098B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7512943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txBody>
          <a:bodyPr/>
          <a:lstStyle/>
          <a:p>
            <a:endParaRPr lang="en-IN"/>
          </a:p>
        </p:txBody>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hyperlink" Target="https://mindsparktechnologies.com/portfolio/gks-engineering-pvt-ltd/" TargetMode="External"/><Relationship Id="rId4" Type="http://schemas.openxmlformats.org/officeDocument/2006/relationships/image" Target="../media/image4.jp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0.jpe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2.jpe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3.jpeg"/></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85" name="Google Shape;85;p13" descr="image.png"/>
          <p:cNvPicPr preferRelativeResize="0"/>
          <p:nvPr/>
        </p:nvPicPr>
        <p:blipFill rotWithShape="1">
          <a:blip r:embed="rId4">
            <a:alphaModFix/>
          </a:blip>
          <a:srcRect/>
          <a:stretch/>
        </p:blipFill>
        <p:spPr>
          <a:xfrm>
            <a:off x="0" y="6743700"/>
            <a:ext cx="12192000" cy="114300"/>
          </a:xfrm>
          <a:prstGeom prst="rect">
            <a:avLst/>
          </a:prstGeom>
          <a:noFill/>
          <a:ln>
            <a:noFill/>
          </a:ln>
        </p:spPr>
      </p:pic>
      <p:sp>
        <p:nvSpPr>
          <p:cNvPr id="86" name="Google Shape;86;p13"/>
          <p:cNvSpPr txBox="1"/>
          <p:nvPr/>
        </p:nvSpPr>
        <p:spPr>
          <a:xfrm>
            <a:off x="295275" y="1249267"/>
            <a:ext cx="11601450" cy="9239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6000" b="1" i="0" u="none" strike="noStrike" cap="none" dirty="0">
                <a:solidFill>
                  <a:schemeClr val="bg2"/>
                </a:solidFill>
                <a:latin typeface="Arial Unicode MS" pitchFamily="34" charset="-128"/>
                <a:ea typeface="Arial Unicode MS" pitchFamily="34" charset="-128"/>
                <a:cs typeface="Arial Unicode MS" pitchFamily="34" charset="-128"/>
                <a:sym typeface="Montserrat"/>
              </a:rPr>
              <a:t>Campus Track</a:t>
            </a:r>
            <a:endParaRPr dirty="0">
              <a:solidFill>
                <a:schemeClr val="bg2"/>
              </a:solidFill>
              <a:latin typeface="Arial Unicode MS" pitchFamily="34" charset="-128"/>
              <a:ea typeface="Arial Unicode MS" pitchFamily="34" charset="-128"/>
              <a:cs typeface="Arial Unicode MS" pitchFamily="34" charset="-128"/>
            </a:endParaRPr>
          </a:p>
        </p:txBody>
      </p:sp>
      <p:sp>
        <p:nvSpPr>
          <p:cNvPr id="87" name="Google Shape;87;p13"/>
          <p:cNvSpPr txBox="1"/>
          <p:nvPr/>
        </p:nvSpPr>
        <p:spPr>
          <a:xfrm>
            <a:off x="412525" y="2173192"/>
            <a:ext cx="11049000" cy="877163"/>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2400" dirty="0">
                <a:solidFill>
                  <a:schemeClr val="bg1">
                    <a:lumMod val="50000"/>
                  </a:schemeClr>
                </a:solidFill>
                <a:latin typeface="Arial Unicode MS" pitchFamily="34" charset="-128"/>
                <a:ea typeface="Arial Unicode MS" pitchFamily="34" charset="-128"/>
                <a:cs typeface="Arial Unicode MS" pitchFamily="34" charset="-128"/>
                <a:sym typeface="Open Sans"/>
              </a:rPr>
              <a:t>Intelligent Campus</a:t>
            </a:r>
            <a:r>
              <a:rPr lang="en-US" sz="2400" i="0" u="none" strike="noStrike" cap="none" dirty="0">
                <a:solidFill>
                  <a:schemeClr val="bg1">
                    <a:lumMod val="50000"/>
                  </a:schemeClr>
                </a:solidFill>
                <a:latin typeface="Arial Unicode MS" pitchFamily="34" charset="-128"/>
                <a:ea typeface="Arial Unicode MS" pitchFamily="34" charset="-128"/>
                <a:cs typeface="Arial Unicode MS" pitchFamily="34" charset="-128"/>
                <a:sym typeface="Open Sans"/>
              </a:rPr>
              <a:t> Lost &amp; Found System</a:t>
            </a:r>
          </a:p>
          <a:p>
            <a:pPr marL="0" marR="0" lvl="0" indent="0" algn="ctr" rtl="0">
              <a:lnSpc>
                <a:spcPct val="150000"/>
              </a:lnSpc>
              <a:spcBef>
                <a:spcPts val="0"/>
              </a:spcBef>
              <a:spcAft>
                <a:spcPts val="0"/>
              </a:spcAft>
              <a:buNone/>
            </a:pPr>
            <a:endParaRPr dirty="0"/>
          </a:p>
        </p:txBody>
      </p:sp>
      <p:sp>
        <p:nvSpPr>
          <p:cNvPr id="88" name="Google Shape;88;p13"/>
          <p:cNvSpPr txBox="1"/>
          <p:nvPr/>
        </p:nvSpPr>
        <p:spPr>
          <a:xfrm>
            <a:off x="716073" y="3177722"/>
            <a:ext cx="11049000" cy="1061829"/>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3200" b="0" i="0" u="none" strike="noStrike" cap="none" dirty="0">
                <a:solidFill>
                  <a:schemeClr val="tx1">
                    <a:lumMod val="75000"/>
                    <a:lumOff val="25000"/>
                  </a:schemeClr>
                </a:solidFill>
                <a:effectLst>
                  <a:outerShdw blurRad="38100" dist="38100" dir="2700000" algn="tl">
                    <a:srgbClr val="000000">
                      <a:alpha val="43137"/>
                    </a:srgbClr>
                  </a:outerShdw>
                </a:effectLst>
                <a:latin typeface="Arial Rounded MT Bold" panose="020F0704030504030204" pitchFamily="34" charset="0"/>
                <a:ea typeface="Arial Unicode MS" pitchFamily="34" charset="-128"/>
                <a:cs typeface="Arial Unicode MS" pitchFamily="34" charset="-128"/>
                <a:sym typeface="Open Sans SemiBold"/>
              </a:rPr>
              <a:t>TEAM - 4</a:t>
            </a:r>
          </a:p>
          <a:p>
            <a:pPr marL="0" marR="0" lvl="0" indent="0" algn="ctr" rtl="0">
              <a:lnSpc>
                <a:spcPct val="150000"/>
              </a:lnSpc>
              <a:spcBef>
                <a:spcPts val="0"/>
              </a:spcBef>
              <a:spcAft>
                <a:spcPts val="0"/>
              </a:spcAft>
              <a:buNone/>
            </a:pPr>
            <a:endParaRPr dirty="0"/>
          </a:p>
        </p:txBody>
      </p:sp>
      <p:sp>
        <p:nvSpPr>
          <p:cNvPr id="89" name="Google Shape;89;p13"/>
          <p:cNvSpPr txBox="1"/>
          <p:nvPr/>
        </p:nvSpPr>
        <p:spPr>
          <a:xfrm>
            <a:off x="7692273" y="4585800"/>
            <a:ext cx="4072800" cy="78483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800" dirty="0">
                <a:solidFill>
                  <a:schemeClr val="bg2"/>
                </a:solidFill>
                <a:latin typeface="Arial Unicode MS" pitchFamily="34" charset="-128"/>
                <a:ea typeface="Arial Unicode MS" pitchFamily="34" charset="-128"/>
                <a:cs typeface="Arial Unicode MS" pitchFamily="34" charset="-128"/>
                <a:sym typeface="Open Sans SemiBold"/>
              </a:rPr>
              <a:t>Under the Guidance Of:</a:t>
            </a:r>
            <a:endParaRPr sz="1800" dirty="0">
              <a:solidFill>
                <a:schemeClr val="bg2"/>
              </a:solidFill>
              <a:latin typeface="Arial Unicode MS" pitchFamily="34" charset="-128"/>
              <a:ea typeface="Arial Unicode MS" pitchFamily="34" charset="-128"/>
              <a:cs typeface="Arial Unicode MS" pitchFamily="34" charset="-128"/>
              <a:sym typeface="Open Sans SemiBold"/>
            </a:endParaRPr>
          </a:p>
          <a:p>
            <a:pPr marL="0" marR="0" lvl="0" indent="0" algn="ctr" rtl="0">
              <a:lnSpc>
                <a:spcPct val="150000"/>
              </a:lnSpc>
              <a:spcBef>
                <a:spcPts val="0"/>
              </a:spcBef>
              <a:spcAft>
                <a:spcPts val="0"/>
              </a:spcAft>
              <a:buNone/>
            </a:pPr>
            <a:r>
              <a:rPr lang="en-IN" sz="1600" dirty="0">
                <a:latin typeface="Arial Unicode MS" pitchFamily="34" charset="-128"/>
                <a:ea typeface="Arial Unicode MS" pitchFamily="34" charset="-128"/>
                <a:cs typeface="Arial Unicode MS" pitchFamily="34" charset="-128"/>
              </a:rPr>
              <a:t>Pavithra  Kannan</a:t>
            </a:r>
            <a:endParaRPr sz="1600" dirty="0">
              <a:latin typeface="Arial Unicode MS" pitchFamily="34" charset="-128"/>
              <a:ea typeface="Arial Unicode MS" pitchFamily="34" charset="-128"/>
              <a:cs typeface="Arial Unicode MS" pitchFamily="34" charset="-128"/>
            </a:endParaRPr>
          </a:p>
        </p:txBody>
      </p:sp>
      <p:sp>
        <p:nvSpPr>
          <p:cNvPr id="90" name="Google Shape;90;p13"/>
          <p:cNvSpPr txBox="1"/>
          <p:nvPr/>
        </p:nvSpPr>
        <p:spPr>
          <a:xfrm>
            <a:off x="412525" y="4288970"/>
            <a:ext cx="3218100" cy="2862322"/>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800" dirty="0">
                <a:solidFill>
                  <a:schemeClr val="bg2"/>
                </a:solidFill>
                <a:latin typeface="Arial Unicode MS" pitchFamily="34" charset="-128"/>
                <a:ea typeface="Open Sans SemiBold"/>
                <a:cs typeface="Open Sans SemiBold"/>
                <a:sym typeface="Open Sans SemiBold"/>
              </a:rPr>
              <a:t>Presented By</a:t>
            </a:r>
            <a:r>
              <a:rPr lang="en-US" sz="1800" dirty="0">
                <a:solidFill>
                  <a:schemeClr val="bg2"/>
                </a:solidFill>
                <a:latin typeface="Open Sans SemiBold"/>
                <a:ea typeface="Open Sans SemiBold"/>
                <a:cs typeface="Open Sans SemiBold"/>
                <a:sym typeface="Open Sans SemiBold"/>
              </a:rPr>
              <a:t>:</a:t>
            </a:r>
          </a:p>
          <a:p>
            <a:pPr marL="0" marR="0" lvl="0" indent="0" algn="ctr" rtl="0">
              <a:lnSpc>
                <a:spcPct val="150000"/>
              </a:lnSpc>
              <a:spcBef>
                <a:spcPts val="0"/>
              </a:spcBef>
              <a:spcAft>
                <a:spcPts val="0"/>
              </a:spcAft>
              <a:buNone/>
            </a:pPr>
            <a:r>
              <a:rPr lang="en-US" sz="1600" dirty="0">
                <a:solidFill>
                  <a:schemeClr val="tx1">
                    <a:lumMod val="85000"/>
                    <a:lumOff val="15000"/>
                  </a:schemeClr>
                </a:solidFill>
                <a:latin typeface="Arial Unicode MS" pitchFamily="34" charset="-128"/>
                <a:ea typeface="Arial Unicode MS" pitchFamily="34" charset="-128"/>
                <a:cs typeface="Arial Unicode MS" pitchFamily="34" charset="-128"/>
                <a:sym typeface="Open Sans SemiBold"/>
              </a:rPr>
              <a:t>Pavithra  Konathala</a:t>
            </a:r>
            <a:endParaRPr lang="en-IN" sz="1600" dirty="0"/>
          </a:p>
          <a:p>
            <a:pPr lvl="0" algn="ctr">
              <a:lnSpc>
                <a:spcPct val="150000"/>
              </a:lnSpc>
            </a:pPr>
            <a:r>
              <a:rPr lang="en-IN" sz="1600" dirty="0"/>
              <a:t>Gayathri  Ravula</a:t>
            </a:r>
          </a:p>
          <a:p>
            <a:pPr algn="ctr">
              <a:lnSpc>
                <a:spcPct val="150000"/>
              </a:lnSpc>
            </a:pPr>
            <a:r>
              <a:rPr lang="en-US" sz="1600" dirty="0">
                <a:solidFill>
                  <a:schemeClr val="tx1">
                    <a:lumMod val="85000"/>
                    <a:lumOff val="15000"/>
                  </a:schemeClr>
                </a:solidFill>
                <a:latin typeface="Arial Unicode MS" pitchFamily="34" charset="-128"/>
                <a:ea typeface="Arial Unicode MS" pitchFamily="34" charset="-128"/>
                <a:cs typeface="Arial Unicode MS" pitchFamily="34" charset="-128"/>
                <a:sym typeface="Open Sans SemiBold"/>
              </a:rPr>
              <a:t> Chaithra  G</a:t>
            </a:r>
          </a:p>
          <a:p>
            <a:pPr lvl="0" algn="ctr">
              <a:lnSpc>
                <a:spcPct val="150000"/>
              </a:lnSpc>
            </a:pPr>
            <a:r>
              <a:rPr lang="en-IN" sz="1600" dirty="0"/>
              <a:t>Vaishnavi  Anumalasetty</a:t>
            </a:r>
            <a:endParaRPr sz="1600" dirty="0">
              <a:solidFill>
                <a:schemeClr val="tx1">
                  <a:lumMod val="85000"/>
                  <a:lumOff val="15000"/>
                </a:schemeClr>
              </a:solidFill>
              <a:latin typeface="Arial Unicode MS" pitchFamily="34" charset="-128"/>
              <a:ea typeface="Arial Unicode MS" pitchFamily="34" charset="-128"/>
              <a:cs typeface="Arial Unicode MS" pitchFamily="34" charset="-128"/>
              <a:sym typeface="Open Sans SemiBold"/>
            </a:endParaRPr>
          </a:p>
          <a:p>
            <a:pPr marL="0" marR="0" lvl="0" indent="0" algn="ctr" rtl="0">
              <a:lnSpc>
                <a:spcPct val="150000"/>
              </a:lnSpc>
              <a:spcBef>
                <a:spcPts val="0"/>
              </a:spcBef>
              <a:spcAft>
                <a:spcPts val="0"/>
              </a:spcAft>
              <a:buNone/>
            </a:pPr>
            <a:endParaRPr dirty="0"/>
          </a:p>
          <a:p>
            <a:pPr marL="0" marR="0" lvl="0" indent="0" algn="ctr" rtl="0">
              <a:lnSpc>
                <a:spcPct val="150000"/>
              </a:lnSpc>
              <a:spcBef>
                <a:spcPts val="0"/>
              </a:spcBef>
              <a:spcAft>
                <a:spcPts val="0"/>
              </a:spcAft>
              <a:buNone/>
            </a:pPr>
            <a:endParaRPr dirty="0"/>
          </a:p>
          <a:p>
            <a:pPr marL="0" marR="0" lvl="0" indent="0" algn="ctr" rtl="0">
              <a:lnSpc>
                <a:spcPct val="150000"/>
              </a:lnSpc>
              <a:spcBef>
                <a:spcPts val="0"/>
              </a:spcBef>
              <a:spcAft>
                <a:spcPts val="0"/>
              </a:spcAft>
              <a:buNone/>
            </a:pP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4"/>
        <p:cNvGrpSpPr/>
        <p:nvPr/>
      </p:nvGrpSpPr>
      <p:grpSpPr>
        <a:xfrm>
          <a:off x="0" y="0"/>
          <a:ext cx="0" cy="0"/>
          <a:chOff x="0" y="0"/>
          <a:chExt cx="0" cy="0"/>
        </a:xfrm>
      </p:grpSpPr>
      <p:pic>
        <p:nvPicPr>
          <p:cNvPr id="95" name="Google Shape;95;p14" descr="image.png"/>
          <p:cNvPicPr preferRelativeResize="0"/>
          <p:nvPr/>
        </p:nvPicPr>
        <p:blipFill rotWithShape="1">
          <a:blip r:embed="rId3">
            <a:alphaModFix/>
          </a:blip>
          <a:srcRect/>
          <a:stretch/>
        </p:blipFill>
        <p:spPr>
          <a:xfrm>
            <a:off x="0" y="6743700"/>
            <a:ext cx="12192000" cy="114300"/>
          </a:xfrm>
          <a:prstGeom prst="rect">
            <a:avLst/>
          </a:prstGeom>
          <a:noFill/>
          <a:ln>
            <a:noFill/>
          </a:ln>
        </p:spPr>
      </p:pic>
      <p:sp>
        <p:nvSpPr>
          <p:cNvPr id="97" name="Google Shape;97;p14"/>
          <p:cNvSpPr txBox="1"/>
          <p:nvPr/>
        </p:nvSpPr>
        <p:spPr>
          <a:xfrm>
            <a:off x="571500" y="571500"/>
            <a:ext cx="11601450" cy="552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kumimoji="0" lang="en-US" sz="3600" b="1" i="0" u="none" strike="noStrike" kern="0" cap="none" spc="0" normalizeH="0" baseline="0" noProof="0" dirty="0">
                <a:ln>
                  <a:noFill/>
                </a:ln>
                <a:solidFill>
                  <a:srgbClr val="002060"/>
                </a:solidFill>
                <a:effectLst/>
                <a:uLnTx/>
                <a:uFillTx/>
                <a:latin typeface="Montserrat"/>
                <a:ea typeface="Montserrat"/>
                <a:cs typeface="Montserrat"/>
                <a:sym typeface="Montserrat"/>
              </a:rPr>
              <a:t>Problem Statement</a:t>
            </a:r>
            <a:endParaRPr dirty="0">
              <a:solidFill>
                <a:srgbClr val="002060"/>
              </a:solidFill>
              <a:latin typeface="Times New Roman" panose="02020603050405020304" pitchFamily="18" charset="0"/>
              <a:cs typeface="Times New Roman" panose="02020603050405020304" pitchFamily="18" charset="0"/>
            </a:endParaRPr>
          </a:p>
        </p:txBody>
      </p:sp>
      <p:sp>
        <p:nvSpPr>
          <p:cNvPr id="98" name="Google Shape;98;p14"/>
          <p:cNvSpPr/>
          <p:nvPr/>
        </p:nvSpPr>
        <p:spPr>
          <a:xfrm>
            <a:off x="571500" y="1255878"/>
            <a:ext cx="11049000" cy="45719"/>
          </a:xfrm>
          <a:prstGeom prst="roundRect">
            <a:avLst>
              <a:gd name="adj" fmla="val 50000"/>
            </a:avLst>
          </a:prstGeom>
          <a:solidFill>
            <a:srgbClr val="EAB30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9" name="Google Shape;99;p14"/>
          <p:cNvSpPr txBox="1"/>
          <p:nvPr/>
        </p:nvSpPr>
        <p:spPr>
          <a:xfrm>
            <a:off x="595313" y="1908056"/>
            <a:ext cx="5500687"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dirty="0">
                <a:solidFill>
                  <a:srgbClr val="334155"/>
                </a:solidFill>
                <a:latin typeface="Times New Roman" panose="02020603050405020304" pitchFamily="18" charset="0"/>
                <a:ea typeface="Montserrat"/>
                <a:cs typeface="Times New Roman" panose="02020603050405020304" pitchFamily="18" charset="0"/>
                <a:sym typeface="Montserrat"/>
              </a:rPr>
              <a:t>Current Challenges</a:t>
            </a:r>
            <a:endParaRPr dirty="0">
              <a:latin typeface="Times New Roman" panose="02020603050405020304" pitchFamily="18" charset="0"/>
              <a:cs typeface="Times New Roman" panose="02020603050405020304" pitchFamily="18" charset="0"/>
            </a:endParaRPr>
          </a:p>
        </p:txBody>
      </p:sp>
      <p:sp>
        <p:nvSpPr>
          <p:cNvPr id="101" name="Google Shape;101;p14"/>
          <p:cNvSpPr txBox="1"/>
          <p:nvPr/>
        </p:nvSpPr>
        <p:spPr>
          <a:xfrm>
            <a:off x="921508" y="2447712"/>
            <a:ext cx="4857750" cy="830997"/>
          </a:xfrm>
          <a:prstGeom prst="rect">
            <a:avLst/>
          </a:prstGeom>
          <a:noFill/>
          <a:ln>
            <a:noFill/>
          </a:ln>
        </p:spPr>
        <p:txBody>
          <a:bodyPr spcFirstLastPara="1" wrap="square" lIns="0" tIns="0" rIns="0" bIns="0" anchor="t" anchorCtr="0">
            <a:spAutoFit/>
          </a:bodyPr>
          <a:lstStyle/>
          <a:p>
            <a:pPr lvl="0">
              <a:lnSpc>
                <a:spcPct val="150000"/>
              </a:lnSpc>
            </a:pPr>
            <a:r>
              <a:rPr lang="en-US" sz="1800" b="1" i="0" u="none" strike="noStrike" cap="none" dirty="0">
                <a:solidFill>
                  <a:srgbClr val="334155"/>
                </a:solidFill>
                <a:latin typeface="Times New Roman" panose="02020603050405020304" pitchFamily="18" charset="0"/>
                <a:ea typeface="Open Sans"/>
                <a:cs typeface="Times New Roman" panose="02020603050405020304" pitchFamily="18" charset="0"/>
                <a:sym typeface="Open Sans"/>
              </a:rPr>
              <a:t>Decentralized</a:t>
            </a:r>
            <a:r>
              <a:rPr lang="en-US" sz="1800" b="1" i="0" u="none" strike="noStrike" cap="none" dirty="0">
                <a:solidFill>
                  <a:srgbClr val="334155"/>
                </a:solidFill>
                <a:latin typeface="Open Sans"/>
                <a:ea typeface="Open Sans"/>
                <a:cs typeface="Open Sans"/>
                <a:sym typeface="Open Sans"/>
              </a:rPr>
              <a:t>:</a:t>
            </a:r>
            <a:r>
              <a:rPr lang="en-US" sz="1800" b="0" i="0" u="none" strike="noStrike" cap="none" dirty="0">
                <a:solidFill>
                  <a:srgbClr val="334155"/>
                </a:solidFill>
                <a:latin typeface="Open Sans"/>
                <a:ea typeface="Open Sans"/>
                <a:cs typeface="Open Sans"/>
                <a:sym typeface="Open Sans"/>
              </a:rPr>
              <a:t> </a:t>
            </a:r>
            <a:r>
              <a:rPr lang="en-US" sz="1800" dirty="0">
                <a:solidFill>
                  <a:schemeClr val="tx1">
                    <a:lumMod val="50000"/>
                    <a:lumOff val="50000"/>
                  </a:schemeClr>
                </a:solidFill>
                <a:latin typeface="Arial Unicode MS" pitchFamily="34" charset="-128"/>
                <a:ea typeface="Arial Unicode MS" pitchFamily="34" charset="-128"/>
                <a:cs typeface="Arial Unicode MS" pitchFamily="34" charset="-128"/>
              </a:rPr>
              <a:t>Items scattered across various reception desks and campus offices.</a:t>
            </a:r>
            <a:endParaRPr dirty="0">
              <a:solidFill>
                <a:schemeClr val="tx1">
                  <a:lumMod val="50000"/>
                  <a:lumOff val="50000"/>
                </a:schemeClr>
              </a:solidFill>
              <a:latin typeface="Arial Unicode MS" pitchFamily="34" charset="-128"/>
              <a:ea typeface="Arial Unicode MS" pitchFamily="34" charset="-128"/>
              <a:cs typeface="Arial Unicode MS" pitchFamily="34" charset="-128"/>
            </a:endParaRPr>
          </a:p>
        </p:txBody>
      </p:sp>
      <p:sp>
        <p:nvSpPr>
          <p:cNvPr id="102" name="Google Shape;102;p14"/>
          <p:cNvSpPr txBox="1"/>
          <p:nvPr/>
        </p:nvSpPr>
        <p:spPr>
          <a:xfrm>
            <a:off x="952500" y="3278709"/>
            <a:ext cx="4857750" cy="830997"/>
          </a:xfrm>
          <a:prstGeom prst="rect">
            <a:avLst/>
          </a:prstGeom>
          <a:noFill/>
          <a:ln>
            <a:noFill/>
          </a:ln>
        </p:spPr>
        <p:txBody>
          <a:bodyPr spcFirstLastPara="1" wrap="square" lIns="0" tIns="0" rIns="0" bIns="0" anchor="t" anchorCtr="0">
            <a:spAutoFit/>
          </a:bodyPr>
          <a:lstStyle/>
          <a:p>
            <a:pPr lvl="0">
              <a:lnSpc>
                <a:spcPct val="150000"/>
              </a:lnSpc>
            </a:pPr>
            <a:r>
              <a:rPr lang="en-US" sz="1800" b="1" i="0" u="none" strike="noStrike" cap="none" dirty="0">
                <a:solidFill>
                  <a:srgbClr val="334155"/>
                </a:solidFill>
                <a:latin typeface="Times New Roman" panose="02020603050405020304" pitchFamily="18" charset="0"/>
                <a:ea typeface="Open Sans"/>
                <a:cs typeface="Times New Roman" panose="02020603050405020304" pitchFamily="18" charset="0"/>
                <a:sym typeface="Open Sans"/>
              </a:rPr>
              <a:t>Inefficient:</a:t>
            </a:r>
            <a:r>
              <a:rPr lang="en-US" sz="1800" b="0" i="0" u="none" strike="noStrike" cap="none" dirty="0">
                <a:solidFill>
                  <a:srgbClr val="334155"/>
                </a:solidFill>
                <a:latin typeface="Times New Roman" panose="02020603050405020304" pitchFamily="18" charset="0"/>
                <a:ea typeface="Open Sans"/>
                <a:cs typeface="Times New Roman" panose="02020603050405020304" pitchFamily="18" charset="0"/>
                <a:sym typeface="Open Sans"/>
              </a:rPr>
              <a:t> </a:t>
            </a:r>
            <a:r>
              <a:rPr lang="en-US" sz="1800" dirty="0">
                <a:solidFill>
                  <a:schemeClr val="bg1">
                    <a:lumMod val="50000"/>
                  </a:schemeClr>
                </a:solidFill>
                <a:latin typeface="Times New Roman" panose="02020603050405020304" pitchFamily="18" charset="0"/>
                <a:ea typeface="Arial Unicode MS" pitchFamily="34" charset="-128"/>
                <a:cs typeface="Times New Roman" panose="02020603050405020304" pitchFamily="18" charset="0"/>
              </a:rPr>
              <a:t>Manual reporting via email blasts or paper forms is often ignored.</a:t>
            </a:r>
            <a:endParaRPr dirty="0">
              <a:solidFill>
                <a:schemeClr val="bg1">
                  <a:lumMod val="50000"/>
                </a:schemeClr>
              </a:solidFill>
              <a:latin typeface="Times New Roman" panose="02020603050405020304" pitchFamily="18" charset="0"/>
              <a:ea typeface="Arial Unicode MS" pitchFamily="34" charset="-128"/>
              <a:cs typeface="Times New Roman" panose="02020603050405020304" pitchFamily="18" charset="0"/>
            </a:endParaRPr>
          </a:p>
        </p:txBody>
      </p:sp>
      <p:sp>
        <p:nvSpPr>
          <p:cNvPr id="103" name="Google Shape;103;p14"/>
          <p:cNvSpPr txBox="1"/>
          <p:nvPr/>
        </p:nvSpPr>
        <p:spPr>
          <a:xfrm>
            <a:off x="931459" y="4109706"/>
            <a:ext cx="4857750" cy="830997"/>
          </a:xfrm>
          <a:prstGeom prst="rect">
            <a:avLst/>
          </a:prstGeom>
          <a:noFill/>
          <a:ln>
            <a:noFill/>
          </a:ln>
        </p:spPr>
        <p:txBody>
          <a:bodyPr spcFirstLastPara="1" wrap="square" lIns="0" tIns="0" rIns="0" bIns="0" anchor="t" anchorCtr="0">
            <a:spAutoFit/>
          </a:bodyPr>
          <a:lstStyle/>
          <a:p>
            <a:pPr>
              <a:lnSpc>
                <a:spcPct val="150000"/>
              </a:lnSpc>
            </a:pPr>
            <a:r>
              <a:rPr lang="en-US" sz="1800" b="1" i="0" u="none" strike="noStrike" cap="none" dirty="0">
                <a:solidFill>
                  <a:srgbClr val="334155"/>
                </a:solidFill>
                <a:latin typeface="Open Sans"/>
                <a:ea typeface="Open Sans"/>
                <a:cs typeface="Open Sans"/>
                <a:sym typeface="Open Sans"/>
              </a:rPr>
              <a:t>Unsecured:</a:t>
            </a:r>
            <a:r>
              <a:rPr lang="en-US" sz="1800" b="0" i="0" u="none" strike="noStrike" cap="none" dirty="0">
                <a:solidFill>
                  <a:schemeClr val="bg1">
                    <a:lumMod val="50000"/>
                  </a:schemeClr>
                </a:solidFill>
                <a:latin typeface="Open Sans"/>
                <a:ea typeface="Open Sans"/>
                <a:cs typeface="Open Sans"/>
                <a:sym typeface="Open Sans"/>
              </a:rPr>
              <a:t> </a:t>
            </a:r>
            <a:r>
              <a:rPr lang="en-US" sz="1800" dirty="0">
                <a:solidFill>
                  <a:schemeClr val="tx1">
                    <a:lumMod val="50000"/>
                    <a:lumOff val="50000"/>
                  </a:schemeClr>
                </a:solidFill>
              </a:rPr>
              <a:t>No consistent </a:t>
            </a:r>
            <a:r>
              <a:rPr lang="en-US" sz="1800" dirty="0">
                <a:solidFill>
                  <a:schemeClr val="tx1">
                    <a:lumMod val="50000"/>
                    <a:lumOff val="50000"/>
                  </a:schemeClr>
                </a:solidFill>
                <a:latin typeface="Times New Roman" panose="02020603050405020304" pitchFamily="18" charset="0"/>
                <a:cs typeface="Times New Roman" panose="02020603050405020304" pitchFamily="18" charset="0"/>
              </a:rPr>
              <a:t>verification</a:t>
            </a:r>
            <a:r>
              <a:rPr lang="en-US" sz="1800" dirty="0">
                <a:solidFill>
                  <a:schemeClr val="tx1">
                    <a:lumMod val="50000"/>
                    <a:lumOff val="50000"/>
                  </a:schemeClr>
                </a:solidFill>
              </a:rPr>
              <a:t> process for item claims.</a:t>
            </a:r>
            <a:endParaRPr dirty="0">
              <a:solidFill>
                <a:schemeClr val="tx1">
                  <a:lumMod val="50000"/>
                  <a:lumOff val="50000"/>
                </a:schemeClr>
              </a:solidFill>
            </a:endParaRPr>
          </a:p>
        </p:txBody>
      </p:sp>
      <p:sp>
        <p:nvSpPr>
          <p:cNvPr id="12" name="Google Shape;103;p14"/>
          <p:cNvSpPr txBox="1"/>
          <p:nvPr/>
        </p:nvSpPr>
        <p:spPr>
          <a:xfrm>
            <a:off x="916781" y="4940703"/>
            <a:ext cx="4857750" cy="415498"/>
          </a:xfrm>
          <a:prstGeom prst="rect">
            <a:avLst/>
          </a:prstGeom>
          <a:noFill/>
          <a:ln>
            <a:noFill/>
          </a:ln>
        </p:spPr>
        <p:txBody>
          <a:bodyPr spcFirstLastPara="1" wrap="square" lIns="0" tIns="0" rIns="0" bIns="0" anchor="t" anchorCtr="0">
            <a:spAutoFit/>
          </a:bodyPr>
          <a:lstStyle/>
          <a:p>
            <a:pPr>
              <a:lnSpc>
                <a:spcPct val="150000"/>
              </a:lnSpc>
            </a:pPr>
            <a:r>
              <a:rPr lang="en-US" sz="1800" b="1" dirty="0">
                <a:solidFill>
                  <a:srgbClr val="334155"/>
                </a:solidFill>
                <a:latin typeface="Open Sans"/>
                <a:ea typeface="Open Sans"/>
                <a:cs typeface="Open Sans"/>
                <a:sym typeface="Open Sans"/>
              </a:rPr>
              <a:t>Chaotic:</a:t>
            </a:r>
            <a:r>
              <a:rPr lang="en-US" sz="1800" b="0" i="0" u="none" strike="noStrike" cap="none" dirty="0">
                <a:solidFill>
                  <a:schemeClr val="bg1">
                    <a:lumMod val="50000"/>
                  </a:schemeClr>
                </a:solidFill>
                <a:latin typeface="Open Sans"/>
                <a:ea typeface="Open Sans"/>
                <a:cs typeface="Open Sans"/>
                <a:sym typeface="Open Sans"/>
              </a:rPr>
              <a:t> </a:t>
            </a:r>
            <a:r>
              <a:rPr lang="en-US" sz="1800" dirty="0">
                <a:solidFill>
                  <a:schemeClr val="tx1">
                    <a:lumMod val="50000"/>
                    <a:lumOff val="50000"/>
                  </a:schemeClr>
                </a:solidFill>
                <a:latin typeface="Times New Roman" panose="02020603050405020304" pitchFamily="18" charset="0"/>
                <a:cs typeface="Times New Roman" panose="02020603050405020304" pitchFamily="18" charset="0"/>
              </a:rPr>
              <a:t>Reliance</a:t>
            </a:r>
            <a:r>
              <a:rPr lang="en-US" sz="1800" dirty="0">
                <a:solidFill>
                  <a:schemeClr val="tx1">
                    <a:lumMod val="50000"/>
                    <a:lumOff val="50000"/>
                  </a:schemeClr>
                </a:solidFill>
              </a:rPr>
              <a:t> on manual paperwork</a:t>
            </a:r>
            <a:r>
              <a:rPr lang="en-US" sz="1800" dirty="0"/>
              <a:t>.</a:t>
            </a:r>
            <a:endParaRPr dirty="0">
              <a:solidFill>
                <a:schemeClr val="tx1">
                  <a:lumMod val="50000"/>
                  <a:lumOff val="50000"/>
                </a:schemeClr>
              </a:solidFill>
            </a:endParaRPr>
          </a:p>
        </p:txBody>
      </p:sp>
      <p:pic>
        <p:nvPicPr>
          <p:cNvPr id="3" name="Picture 2"/>
          <p:cNvPicPr>
            <a:picLocks noChangeAspect="1"/>
          </p:cNvPicPr>
          <p:nvPr/>
        </p:nvPicPr>
        <p:blipFill rotWithShape="1">
          <a:blip r:embed="rId4">
            <a:extLst>
              <a:ext uri="{28A0092B-C50C-407E-A947-70E740481C1C}">
                <a14:useLocalDpi xmlns:a14="http://schemas.microsoft.com/office/drawing/2010/main" val="0"/>
              </a:ext>
            </a:extLst>
          </a:blip>
          <a:srcRect l="13518" t="30971" r="11667" b="51618"/>
          <a:stretch/>
        </p:blipFill>
        <p:spPr>
          <a:xfrm>
            <a:off x="6096000" y="2536302"/>
            <a:ext cx="5328390" cy="250134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0"/>
        <p:cNvGrpSpPr/>
        <p:nvPr/>
      </p:nvGrpSpPr>
      <p:grpSpPr>
        <a:xfrm>
          <a:off x="0" y="0"/>
          <a:ext cx="0" cy="0"/>
          <a:chOff x="0" y="0"/>
          <a:chExt cx="0" cy="0"/>
        </a:xfrm>
      </p:grpSpPr>
      <p:pic>
        <p:nvPicPr>
          <p:cNvPr id="111" name="Google Shape;111;p15" descr="image.png"/>
          <p:cNvPicPr preferRelativeResize="0"/>
          <p:nvPr/>
        </p:nvPicPr>
        <p:blipFill rotWithShape="1">
          <a:blip r:embed="rId3">
            <a:alphaModFix/>
          </a:blip>
          <a:srcRect/>
          <a:stretch/>
        </p:blipFill>
        <p:spPr>
          <a:xfrm>
            <a:off x="0" y="6743700"/>
            <a:ext cx="12192000" cy="114300"/>
          </a:xfrm>
          <a:prstGeom prst="rect">
            <a:avLst/>
          </a:prstGeom>
          <a:noFill/>
          <a:ln>
            <a:noFill/>
          </a:ln>
        </p:spPr>
      </p:pic>
      <p:sp>
        <p:nvSpPr>
          <p:cNvPr id="115" name="Google Shape;115;p15"/>
          <p:cNvSpPr txBox="1"/>
          <p:nvPr/>
        </p:nvSpPr>
        <p:spPr>
          <a:xfrm>
            <a:off x="571500" y="571500"/>
            <a:ext cx="11601450" cy="552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kumimoji="0" lang="en-US" sz="3600" b="1" i="0" u="none" strike="noStrike" kern="0" cap="none" spc="0" normalizeH="0" baseline="0" noProof="0" dirty="0">
                <a:ln>
                  <a:noFill/>
                </a:ln>
                <a:solidFill>
                  <a:srgbClr val="002060"/>
                </a:solidFill>
                <a:effectLst/>
                <a:uLnTx/>
                <a:uFillTx/>
                <a:latin typeface="Montserrat"/>
                <a:ea typeface="Montserrat"/>
                <a:cs typeface="Montserrat"/>
                <a:sym typeface="Montserrat"/>
              </a:rPr>
              <a:t>Our Solution</a:t>
            </a:r>
            <a:endParaRPr dirty="0">
              <a:solidFill>
                <a:srgbClr val="002060"/>
              </a:solidFill>
              <a:latin typeface="Times New Roman" panose="02020603050405020304" pitchFamily="18" charset="0"/>
              <a:cs typeface="Times New Roman" panose="02020603050405020304" pitchFamily="18" charset="0"/>
            </a:endParaRPr>
          </a:p>
        </p:txBody>
      </p:sp>
      <p:sp>
        <p:nvSpPr>
          <p:cNvPr id="117" name="Google Shape;117;p15"/>
          <p:cNvSpPr/>
          <p:nvPr/>
        </p:nvSpPr>
        <p:spPr>
          <a:xfrm flipV="1">
            <a:off x="571500" y="1181098"/>
            <a:ext cx="11049000" cy="45719"/>
          </a:xfrm>
          <a:prstGeom prst="roundRect">
            <a:avLst>
              <a:gd name="adj" fmla="val 50000"/>
            </a:avLst>
          </a:prstGeom>
          <a:solidFill>
            <a:srgbClr val="EAB30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 name="Picture 2">
            <a:extLst>
              <a:ext uri="{FF2B5EF4-FFF2-40B4-BE49-F238E27FC236}">
                <a16:creationId xmlns:a16="http://schemas.microsoft.com/office/drawing/2014/main" id="{400ED6A4-E1FC-F354-39D4-C6103C2C9CCF}"/>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727587" y="2182761"/>
            <a:ext cx="3824748" cy="2912501"/>
          </a:xfrm>
          <a:prstGeom prst="rect">
            <a:avLst/>
          </a:prstGeom>
        </p:spPr>
      </p:pic>
      <p:sp>
        <p:nvSpPr>
          <p:cNvPr id="4" name="TextBox 3">
            <a:extLst>
              <a:ext uri="{FF2B5EF4-FFF2-40B4-BE49-F238E27FC236}">
                <a16:creationId xmlns:a16="http://schemas.microsoft.com/office/drawing/2014/main" id="{88009D32-80A2-4FFB-27EB-0EB0E415C87B}"/>
              </a:ext>
            </a:extLst>
          </p:cNvPr>
          <p:cNvSpPr txBox="1"/>
          <p:nvPr/>
        </p:nvSpPr>
        <p:spPr>
          <a:xfrm>
            <a:off x="5270091" y="1953178"/>
            <a:ext cx="6350410" cy="2777940"/>
          </a:xfrm>
          <a:prstGeom prst="rect">
            <a:avLst/>
          </a:prstGeom>
          <a:noFill/>
        </p:spPr>
        <p:txBody>
          <a:bodyPr wrap="square" rtlCol="0">
            <a:spAutoFit/>
          </a:bodyPr>
          <a:lstStyle/>
          <a:p>
            <a:pPr algn="just">
              <a:lnSpc>
                <a:spcPct val="200000"/>
              </a:lnSpc>
            </a:pPr>
            <a:r>
              <a:rPr lang="en-US" sz="1800" dirty="0">
                <a:solidFill>
                  <a:schemeClr val="tx1">
                    <a:lumMod val="50000"/>
                    <a:lumOff val="50000"/>
                  </a:schemeClr>
                </a:solidFill>
                <a:latin typeface="Times New Roman" panose="02020603050405020304" pitchFamily="18" charset="0"/>
                <a:ea typeface="Arial Unicode MS" pitchFamily="34" charset="-128"/>
                <a:cs typeface="Times New Roman" panose="02020603050405020304" pitchFamily="18" charset="0"/>
              </a:rPr>
              <a:t>Campus Track is a web-based Lost &amp; Found system designed to help students and staff easily report, search, and track lost items on campus. The platform provides one central place where users can quickly submit details with images, check newly added items, and get notified when their lost item is found.</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48"/>
        <p:cNvGrpSpPr/>
        <p:nvPr/>
      </p:nvGrpSpPr>
      <p:grpSpPr>
        <a:xfrm>
          <a:off x="0" y="0"/>
          <a:ext cx="0" cy="0"/>
          <a:chOff x="0" y="0"/>
          <a:chExt cx="0" cy="0"/>
        </a:xfrm>
      </p:grpSpPr>
      <p:pic>
        <p:nvPicPr>
          <p:cNvPr id="149" name="Google Shape;149;p17" descr="image.png"/>
          <p:cNvPicPr preferRelativeResize="0"/>
          <p:nvPr/>
        </p:nvPicPr>
        <p:blipFill rotWithShape="1">
          <a:blip r:embed="rId3">
            <a:alphaModFix/>
          </a:blip>
          <a:srcRect/>
          <a:stretch/>
        </p:blipFill>
        <p:spPr>
          <a:xfrm>
            <a:off x="0" y="6743700"/>
            <a:ext cx="12192000" cy="114300"/>
          </a:xfrm>
          <a:prstGeom prst="rect">
            <a:avLst/>
          </a:prstGeom>
          <a:noFill/>
          <a:ln>
            <a:noFill/>
          </a:ln>
        </p:spPr>
      </p:pic>
      <p:sp>
        <p:nvSpPr>
          <p:cNvPr id="150" name="Google Shape;150;p17"/>
          <p:cNvSpPr txBox="1"/>
          <p:nvPr/>
        </p:nvSpPr>
        <p:spPr>
          <a:xfrm>
            <a:off x="571500" y="571500"/>
            <a:ext cx="11601450" cy="552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kumimoji="0" lang="en-US" sz="3600" b="1" i="0" u="none" strike="noStrike" kern="0" cap="none" spc="0" normalizeH="0" baseline="0" noProof="0" dirty="0">
                <a:ln>
                  <a:noFill/>
                </a:ln>
                <a:solidFill>
                  <a:srgbClr val="002060"/>
                </a:solidFill>
                <a:effectLst/>
                <a:uLnTx/>
                <a:uFillTx/>
                <a:latin typeface="Montserrat"/>
                <a:ea typeface="Montserrat"/>
                <a:cs typeface="Montserrat"/>
                <a:sym typeface="Montserrat"/>
              </a:rPr>
              <a:t>Technology Stack</a:t>
            </a:r>
            <a:endParaRPr dirty="0">
              <a:solidFill>
                <a:srgbClr val="002060"/>
              </a:solidFill>
              <a:latin typeface="Times New Roman" panose="02020603050405020304" pitchFamily="18" charset="0"/>
              <a:cs typeface="Times New Roman" panose="02020603050405020304" pitchFamily="18" charset="0"/>
            </a:endParaRPr>
          </a:p>
        </p:txBody>
      </p:sp>
      <p:sp>
        <p:nvSpPr>
          <p:cNvPr id="151" name="Google Shape;151;p17"/>
          <p:cNvSpPr/>
          <p:nvPr/>
        </p:nvSpPr>
        <p:spPr>
          <a:xfrm>
            <a:off x="571500" y="1123950"/>
            <a:ext cx="11110984" cy="45719"/>
          </a:xfrm>
          <a:prstGeom prst="roundRect">
            <a:avLst>
              <a:gd name="adj" fmla="val 50000"/>
            </a:avLst>
          </a:prstGeom>
          <a:solidFill>
            <a:srgbClr val="EAB30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52" name="Google Shape;152;p17" descr="image.png"/>
          <p:cNvPicPr preferRelativeResize="0"/>
          <p:nvPr/>
        </p:nvPicPr>
        <p:blipFill rotWithShape="1">
          <a:blip r:embed="rId4">
            <a:alphaModFix/>
          </a:blip>
          <a:srcRect/>
          <a:stretch/>
        </p:blipFill>
        <p:spPr>
          <a:xfrm>
            <a:off x="1595437" y="2171700"/>
            <a:ext cx="428625" cy="571500"/>
          </a:xfrm>
          <a:prstGeom prst="rect">
            <a:avLst/>
          </a:prstGeom>
          <a:noFill/>
          <a:ln>
            <a:noFill/>
          </a:ln>
        </p:spPr>
      </p:pic>
      <p:sp>
        <p:nvSpPr>
          <p:cNvPr id="153" name="Google Shape;153;p17"/>
          <p:cNvSpPr txBox="1"/>
          <p:nvPr/>
        </p:nvSpPr>
        <p:spPr>
          <a:xfrm>
            <a:off x="709612" y="2933700"/>
            <a:ext cx="2200275" cy="3238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dirty="0">
                <a:solidFill>
                  <a:srgbClr val="334155"/>
                </a:solidFill>
                <a:latin typeface="Montserrat"/>
                <a:ea typeface="Montserrat"/>
                <a:cs typeface="Montserrat"/>
                <a:sym typeface="Montserrat"/>
              </a:rPr>
              <a:t>Java 17</a:t>
            </a:r>
            <a:endParaRPr dirty="0"/>
          </a:p>
        </p:txBody>
      </p:sp>
      <p:pic>
        <p:nvPicPr>
          <p:cNvPr id="154" name="Google Shape;154;p17" descr="image.png"/>
          <p:cNvPicPr preferRelativeResize="0"/>
          <p:nvPr/>
        </p:nvPicPr>
        <p:blipFill rotWithShape="1">
          <a:blip r:embed="rId5">
            <a:alphaModFix/>
          </a:blip>
          <a:srcRect/>
          <a:stretch/>
        </p:blipFill>
        <p:spPr>
          <a:xfrm>
            <a:off x="4381500" y="2171700"/>
            <a:ext cx="571500" cy="571500"/>
          </a:xfrm>
          <a:prstGeom prst="rect">
            <a:avLst/>
          </a:prstGeom>
          <a:noFill/>
          <a:ln>
            <a:noFill/>
          </a:ln>
        </p:spPr>
      </p:pic>
      <p:sp>
        <p:nvSpPr>
          <p:cNvPr id="155" name="Google Shape;155;p17"/>
          <p:cNvSpPr txBox="1"/>
          <p:nvPr/>
        </p:nvSpPr>
        <p:spPr>
          <a:xfrm>
            <a:off x="3567112" y="2933700"/>
            <a:ext cx="2200275" cy="3238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334155"/>
                </a:solidFill>
                <a:latin typeface="Montserrat"/>
                <a:ea typeface="Montserrat"/>
                <a:cs typeface="Montserrat"/>
                <a:sym typeface="Montserrat"/>
              </a:rPr>
              <a:t>Spring Boot</a:t>
            </a:r>
            <a:endParaRPr/>
          </a:p>
        </p:txBody>
      </p:sp>
      <p:pic>
        <p:nvPicPr>
          <p:cNvPr id="156" name="Google Shape;156;p17" descr="image.png"/>
          <p:cNvPicPr preferRelativeResize="0"/>
          <p:nvPr/>
        </p:nvPicPr>
        <p:blipFill rotWithShape="1">
          <a:blip r:embed="rId6">
            <a:alphaModFix/>
          </a:blip>
          <a:srcRect/>
          <a:stretch/>
        </p:blipFill>
        <p:spPr>
          <a:xfrm>
            <a:off x="7272337" y="2171700"/>
            <a:ext cx="504825" cy="571500"/>
          </a:xfrm>
          <a:prstGeom prst="rect">
            <a:avLst/>
          </a:prstGeom>
          <a:noFill/>
          <a:ln>
            <a:noFill/>
          </a:ln>
        </p:spPr>
      </p:pic>
      <p:sp>
        <p:nvSpPr>
          <p:cNvPr id="157" name="Google Shape;157;p17"/>
          <p:cNvSpPr txBox="1"/>
          <p:nvPr/>
        </p:nvSpPr>
        <p:spPr>
          <a:xfrm>
            <a:off x="6424612" y="2933700"/>
            <a:ext cx="2200275" cy="3238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334155"/>
                </a:solidFill>
                <a:latin typeface="Montserrat"/>
                <a:ea typeface="Montserrat"/>
                <a:cs typeface="Montserrat"/>
                <a:sym typeface="Montserrat"/>
              </a:rPr>
              <a:t>MySQL</a:t>
            </a:r>
            <a:endParaRPr/>
          </a:p>
        </p:txBody>
      </p:sp>
      <p:pic>
        <p:nvPicPr>
          <p:cNvPr id="158" name="Google Shape;158;p17" descr="image.png"/>
          <p:cNvPicPr preferRelativeResize="0"/>
          <p:nvPr/>
        </p:nvPicPr>
        <p:blipFill rotWithShape="1">
          <a:blip r:embed="rId7">
            <a:alphaModFix/>
          </a:blip>
          <a:srcRect/>
          <a:stretch/>
        </p:blipFill>
        <p:spPr>
          <a:xfrm>
            <a:off x="10058400" y="2171700"/>
            <a:ext cx="647700" cy="571500"/>
          </a:xfrm>
          <a:prstGeom prst="rect">
            <a:avLst/>
          </a:prstGeom>
          <a:noFill/>
          <a:ln>
            <a:noFill/>
          </a:ln>
        </p:spPr>
      </p:pic>
      <p:sp>
        <p:nvSpPr>
          <p:cNvPr id="159" name="Google Shape;159;p17"/>
          <p:cNvSpPr txBox="1"/>
          <p:nvPr/>
        </p:nvSpPr>
        <p:spPr>
          <a:xfrm>
            <a:off x="9282112" y="2933700"/>
            <a:ext cx="2200275" cy="3238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334155"/>
                </a:solidFill>
                <a:latin typeface="Montserrat"/>
                <a:ea typeface="Montserrat"/>
                <a:cs typeface="Montserrat"/>
                <a:sym typeface="Montserrat"/>
              </a:rPr>
              <a:t>Bootstrap 5</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oogle Shape;164;p18" descr="image.png">
            <a:extLst>
              <a:ext uri="{FF2B5EF4-FFF2-40B4-BE49-F238E27FC236}">
                <a16:creationId xmlns:a16="http://schemas.microsoft.com/office/drawing/2014/main" id="{431FEA17-2105-A9A1-4AF7-644AEDDC1A7A}"/>
              </a:ext>
            </a:extLst>
          </p:cNvPr>
          <p:cNvPicPr preferRelativeResize="0"/>
          <p:nvPr/>
        </p:nvPicPr>
        <p:blipFill rotWithShape="1">
          <a:blip r:embed="rId2">
            <a:alphaModFix/>
          </a:blip>
          <a:srcRect/>
          <a:stretch/>
        </p:blipFill>
        <p:spPr>
          <a:xfrm>
            <a:off x="0" y="6743700"/>
            <a:ext cx="12192000" cy="114300"/>
          </a:xfrm>
          <a:prstGeom prst="rect">
            <a:avLst/>
          </a:prstGeom>
          <a:noFill/>
          <a:ln>
            <a:noFill/>
          </a:ln>
        </p:spPr>
      </p:pic>
      <p:sp>
        <p:nvSpPr>
          <p:cNvPr id="6" name="TextBox 5">
            <a:extLst>
              <a:ext uri="{FF2B5EF4-FFF2-40B4-BE49-F238E27FC236}">
                <a16:creationId xmlns:a16="http://schemas.microsoft.com/office/drawing/2014/main" id="{543E101A-2F5A-B67A-E938-1A9D4AB0CA8E}"/>
              </a:ext>
            </a:extLst>
          </p:cNvPr>
          <p:cNvSpPr txBox="1"/>
          <p:nvPr/>
        </p:nvSpPr>
        <p:spPr>
          <a:xfrm>
            <a:off x="1956619" y="2546555"/>
            <a:ext cx="9006350" cy="1446550"/>
          </a:xfrm>
          <a:prstGeom prst="rect">
            <a:avLst/>
          </a:prstGeom>
          <a:noFill/>
        </p:spPr>
        <p:txBody>
          <a:bodyPr wrap="square" rtlCol="0">
            <a:spAutoFit/>
          </a:bodyPr>
          <a:lstStyle/>
          <a:p>
            <a:r>
              <a:rPr lang="en-IN" sz="4400" dirty="0">
                <a:latin typeface="Times New Roman" panose="02020603050405020304" pitchFamily="18" charset="0"/>
                <a:cs typeface="Times New Roman" panose="02020603050405020304" pitchFamily="18" charset="0"/>
              </a:rPr>
              <a:t>                </a:t>
            </a:r>
            <a:r>
              <a:rPr lang="en-IN" sz="4400" dirty="0">
                <a:solidFill>
                  <a:schemeClr val="bg2"/>
                </a:solidFill>
                <a:latin typeface="Times New Roman" panose="02020603050405020304" pitchFamily="18" charset="0"/>
                <a:cs typeface="Times New Roman" panose="02020603050405020304" pitchFamily="18" charset="0"/>
              </a:rPr>
              <a:t>MILESTONE – 1</a:t>
            </a:r>
          </a:p>
          <a:p>
            <a:r>
              <a:rPr lang="en-IN" sz="4400" dirty="0">
                <a:solidFill>
                  <a:schemeClr val="bg2"/>
                </a:solidFill>
                <a:latin typeface="Times New Roman" panose="02020603050405020304" pitchFamily="18" charset="0"/>
                <a:cs typeface="Times New Roman" panose="02020603050405020304" pitchFamily="18" charset="0"/>
              </a:rPr>
              <a:t>Authentication &amp; Campus Verification</a:t>
            </a:r>
          </a:p>
        </p:txBody>
      </p:sp>
    </p:spTree>
    <p:extLst>
      <p:ext uri="{BB962C8B-B14F-4D97-AF65-F5344CB8AC3E}">
        <p14:creationId xmlns:p14="http://schemas.microsoft.com/office/powerpoint/2010/main" val="20805833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63"/>
        <p:cNvGrpSpPr/>
        <p:nvPr/>
      </p:nvGrpSpPr>
      <p:grpSpPr>
        <a:xfrm>
          <a:off x="0" y="0"/>
          <a:ext cx="0" cy="0"/>
          <a:chOff x="0" y="0"/>
          <a:chExt cx="0" cy="0"/>
        </a:xfrm>
      </p:grpSpPr>
      <p:pic>
        <p:nvPicPr>
          <p:cNvPr id="164" name="Google Shape;164;p18" descr="image.png"/>
          <p:cNvPicPr preferRelativeResize="0"/>
          <p:nvPr/>
        </p:nvPicPr>
        <p:blipFill rotWithShape="1">
          <a:blip r:embed="rId3">
            <a:alphaModFix/>
          </a:blip>
          <a:srcRect/>
          <a:stretch/>
        </p:blipFill>
        <p:spPr>
          <a:xfrm>
            <a:off x="0" y="6743700"/>
            <a:ext cx="12192000" cy="114300"/>
          </a:xfrm>
          <a:prstGeom prst="rect">
            <a:avLst/>
          </a:prstGeom>
          <a:noFill/>
          <a:ln>
            <a:noFill/>
          </a:ln>
        </p:spPr>
      </p:pic>
      <p:sp>
        <p:nvSpPr>
          <p:cNvPr id="167" name="Google Shape;167;p18"/>
          <p:cNvSpPr txBox="1"/>
          <p:nvPr/>
        </p:nvSpPr>
        <p:spPr>
          <a:xfrm>
            <a:off x="571500" y="571500"/>
            <a:ext cx="11601450" cy="552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dirty="0">
                <a:solidFill>
                  <a:srgbClr val="002060"/>
                </a:solidFill>
                <a:latin typeface="Montserrat"/>
                <a:ea typeface="Montserrat"/>
                <a:cs typeface="Montserrat"/>
                <a:sym typeface="Montserrat"/>
              </a:rPr>
              <a:t>Milestone Deliverables</a:t>
            </a:r>
            <a:endParaRPr dirty="0">
              <a:solidFill>
                <a:srgbClr val="002060"/>
              </a:solidFill>
            </a:endParaRPr>
          </a:p>
        </p:txBody>
      </p:sp>
      <p:sp>
        <p:nvSpPr>
          <p:cNvPr id="168" name="Google Shape;168;p18"/>
          <p:cNvSpPr/>
          <p:nvPr/>
        </p:nvSpPr>
        <p:spPr>
          <a:xfrm>
            <a:off x="525866" y="1131583"/>
            <a:ext cx="10993034" cy="45719"/>
          </a:xfrm>
          <a:prstGeom prst="roundRect">
            <a:avLst>
              <a:gd name="adj" fmla="val 50000"/>
            </a:avLst>
          </a:prstGeom>
          <a:solidFill>
            <a:srgbClr val="EAB30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9" name="Google Shape;169;p18"/>
          <p:cNvSpPr txBox="1"/>
          <p:nvPr/>
        </p:nvSpPr>
        <p:spPr>
          <a:xfrm>
            <a:off x="571500" y="1552859"/>
            <a:ext cx="10387651" cy="323165"/>
          </a:xfrm>
          <a:prstGeom prst="rect">
            <a:avLst/>
          </a:prstGeom>
          <a:noFill/>
          <a:ln>
            <a:noFill/>
          </a:ln>
        </p:spPr>
        <p:txBody>
          <a:bodyPr spcFirstLastPara="1" wrap="square" lIns="0" tIns="0" rIns="0" bIns="0" anchor="t" anchorCtr="0">
            <a:spAutoFit/>
          </a:bodyPr>
          <a:lstStyle/>
          <a:p>
            <a:pPr lvl="0"/>
            <a:r>
              <a:rPr lang="en-US" sz="2100" b="1" i="0" u="none" strike="noStrike" cap="none" dirty="0">
                <a:solidFill>
                  <a:srgbClr val="334155"/>
                </a:solidFill>
                <a:latin typeface="Montserrat"/>
                <a:ea typeface="Montserrat"/>
                <a:cs typeface="Montserrat"/>
                <a:sym typeface="Montserrat"/>
              </a:rPr>
              <a:t>Focus: </a:t>
            </a:r>
            <a:r>
              <a:rPr lang="en-US" sz="2100" dirty="0">
                <a:solidFill>
                  <a:schemeClr val="tx1">
                    <a:lumMod val="50000"/>
                    <a:lumOff val="50000"/>
                  </a:schemeClr>
                </a:solidFill>
                <a:latin typeface="Arial Unicode MS" pitchFamily="34" charset="-128"/>
                <a:ea typeface="Arial Unicode MS" pitchFamily="34" charset="-128"/>
                <a:cs typeface="Arial Unicode MS" pitchFamily="34" charset="-128"/>
              </a:rPr>
              <a:t>Complete Static Page Design &amp; High-Quality UI</a:t>
            </a:r>
            <a:endParaRPr sz="2100" dirty="0">
              <a:solidFill>
                <a:schemeClr val="tx1">
                  <a:lumMod val="50000"/>
                  <a:lumOff val="50000"/>
                </a:schemeClr>
              </a:solidFill>
              <a:latin typeface="Arial Unicode MS" pitchFamily="34" charset="-128"/>
              <a:ea typeface="Arial Unicode MS" pitchFamily="34" charset="-128"/>
              <a:cs typeface="Arial Unicode MS" pitchFamily="34" charset="-128"/>
            </a:endParaRPr>
          </a:p>
        </p:txBody>
      </p:sp>
      <p:sp>
        <p:nvSpPr>
          <p:cNvPr id="171" name="Google Shape;171;p18"/>
          <p:cNvSpPr txBox="1"/>
          <p:nvPr/>
        </p:nvSpPr>
        <p:spPr>
          <a:xfrm>
            <a:off x="952500" y="2038350"/>
            <a:ext cx="6716661" cy="1154162"/>
          </a:xfrm>
          <a:prstGeom prst="rect">
            <a:avLst/>
          </a:prstGeom>
          <a:noFill/>
          <a:ln>
            <a:noFill/>
          </a:ln>
        </p:spPr>
        <p:txBody>
          <a:bodyPr spcFirstLastPara="1" wrap="square" lIns="0" tIns="0" rIns="0" bIns="0" anchor="t" anchorCtr="0">
            <a:spAutoFit/>
          </a:bodyPr>
          <a:lstStyle/>
          <a:p>
            <a:pPr lvl="0">
              <a:lnSpc>
                <a:spcPct val="150000"/>
              </a:lnSpc>
            </a:pPr>
            <a:r>
              <a:rPr lang="en-US" sz="1800" b="1" i="0" u="none" strike="noStrike" cap="none" dirty="0">
                <a:solidFill>
                  <a:srgbClr val="334155"/>
                </a:solidFill>
                <a:latin typeface="Open Sans"/>
                <a:ea typeface="Open Sans"/>
                <a:cs typeface="Open Sans"/>
                <a:sym typeface="Open Sans"/>
              </a:rPr>
              <a:t>Registration:</a:t>
            </a:r>
            <a:r>
              <a:rPr lang="en-US" sz="1800" b="0" i="0" u="none" strike="noStrike" cap="none" dirty="0">
                <a:solidFill>
                  <a:srgbClr val="334155"/>
                </a:solidFill>
                <a:latin typeface="Open Sans"/>
                <a:ea typeface="Open Sans"/>
                <a:cs typeface="Open Sans"/>
                <a:sym typeface="Open Sans"/>
              </a:rPr>
              <a:t> </a:t>
            </a:r>
            <a:r>
              <a:rPr lang="en-US" sz="1800" dirty="0">
                <a:solidFill>
                  <a:schemeClr val="tx1">
                    <a:lumMod val="50000"/>
                    <a:lumOff val="50000"/>
                  </a:schemeClr>
                </a:solidFill>
                <a:latin typeface="Arial Unicode MS" pitchFamily="34" charset="-128"/>
                <a:ea typeface="Arial Unicode MS" pitchFamily="34" charset="-128"/>
                <a:cs typeface="Arial Unicode MS" pitchFamily="34" charset="-128"/>
              </a:rPr>
              <a:t>The initial registration page for new campus members.</a:t>
            </a:r>
          </a:p>
          <a:p>
            <a:pPr marL="0" marR="0" lvl="0" indent="0" algn="l" rtl="0">
              <a:lnSpc>
                <a:spcPct val="150000"/>
              </a:lnSpc>
              <a:spcBef>
                <a:spcPts val="0"/>
              </a:spcBef>
              <a:spcAft>
                <a:spcPts val="0"/>
              </a:spcAft>
              <a:buNone/>
            </a:pPr>
            <a:endParaRPr dirty="0"/>
          </a:p>
        </p:txBody>
      </p:sp>
      <p:sp>
        <p:nvSpPr>
          <p:cNvPr id="172" name="Google Shape;172;p18"/>
          <p:cNvSpPr txBox="1"/>
          <p:nvPr/>
        </p:nvSpPr>
        <p:spPr>
          <a:xfrm>
            <a:off x="952500" y="2962275"/>
            <a:ext cx="7640894" cy="1154162"/>
          </a:xfrm>
          <a:prstGeom prst="rect">
            <a:avLst/>
          </a:prstGeom>
          <a:noFill/>
          <a:ln>
            <a:noFill/>
          </a:ln>
        </p:spPr>
        <p:txBody>
          <a:bodyPr spcFirstLastPara="1" wrap="square" lIns="0" tIns="0" rIns="0" bIns="0" anchor="t" anchorCtr="0">
            <a:spAutoFit/>
          </a:bodyPr>
          <a:lstStyle/>
          <a:p>
            <a:pPr>
              <a:lnSpc>
                <a:spcPct val="150000"/>
              </a:lnSpc>
            </a:pPr>
            <a:r>
              <a:rPr lang="en-US" sz="1800" b="1" i="0" u="none" strike="noStrike" cap="none" dirty="0">
                <a:solidFill>
                  <a:srgbClr val="334155"/>
                </a:solidFill>
                <a:latin typeface="Open Sans"/>
                <a:ea typeface="Open Sans"/>
                <a:cs typeface="Open Sans"/>
                <a:sym typeface="Open Sans"/>
              </a:rPr>
              <a:t>User Login:</a:t>
            </a:r>
            <a:r>
              <a:rPr lang="en-US" sz="1800" b="0" i="0" u="none" strike="noStrike" cap="none" dirty="0">
                <a:solidFill>
                  <a:srgbClr val="334155"/>
                </a:solidFill>
                <a:latin typeface="Open Sans"/>
                <a:ea typeface="Open Sans"/>
                <a:cs typeface="Open Sans"/>
                <a:sym typeface="Open Sans"/>
              </a:rPr>
              <a:t> </a:t>
            </a:r>
            <a:r>
              <a:rPr lang="en-US" sz="1800" dirty="0">
                <a:solidFill>
                  <a:schemeClr val="tx1">
                    <a:lumMod val="50000"/>
                    <a:lumOff val="50000"/>
                  </a:schemeClr>
                </a:solidFill>
              </a:rPr>
              <a:t>The gateway to the application, designed for quick and secure access.</a:t>
            </a:r>
          </a:p>
          <a:p>
            <a:pPr marL="0" marR="0" lvl="0" indent="0" algn="l" rtl="0">
              <a:lnSpc>
                <a:spcPct val="150000"/>
              </a:lnSpc>
              <a:spcBef>
                <a:spcPts val="0"/>
              </a:spcBef>
              <a:spcAft>
                <a:spcPts val="0"/>
              </a:spcAft>
              <a:buNone/>
            </a:pPr>
            <a:endParaRPr dirty="0"/>
          </a:p>
        </p:txBody>
      </p:sp>
      <p:sp>
        <p:nvSpPr>
          <p:cNvPr id="173" name="Google Shape;173;p18"/>
          <p:cNvSpPr txBox="1"/>
          <p:nvPr/>
        </p:nvSpPr>
        <p:spPr>
          <a:xfrm>
            <a:off x="952500" y="3886200"/>
            <a:ext cx="7965358" cy="2400657"/>
          </a:xfrm>
          <a:prstGeom prst="rect">
            <a:avLst/>
          </a:prstGeom>
          <a:noFill/>
          <a:ln>
            <a:noFill/>
          </a:ln>
        </p:spPr>
        <p:txBody>
          <a:bodyPr spcFirstLastPara="1" wrap="square" lIns="0" tIns="0" rIns="0" bIns="0" anchor="t" anchorCtr="0">
            <a:spAutoFit/>
          </a:bodyPr>
          <a:lstStyle/>
          <a:p>
            <a:pPr lvl="0">
              <a:lnSpc>
                <a:spcPct val="150000"/>
              </a:lnSpc>
            </a:pPr>
            <a:r>
              <a:rPr lang="en-US" sz="1800" b="1" dirty="0">
                <a:solidFill>
                  <a:srgbClr val="334155"/>
                </a:solidFill>
                <a:latin typeface="Open Sans"/>
                <a:ea typeface="Open Sans"/>
                <a:cs typeface="Open Sans"/>
                <a:sym typeface="Open Sans"/>
              </a:rPr>
              <a:t>Landing page: </a:t>
            </a:r>
            <a:r>
              <a:rPr lang="en-US" sz="1800" dirty="0">
                <a:solidFill>
                  <a:schemeClr val="tx1">
                    <a:lumMod val="50000"/>
                    <a:lumOff val="50000"/>
                  </a:schemeClr>
                </a:solidFill>
                <a:latin typeface="Arial Unicode MS" pitchFamily="34" charset="-128"/>
                <a:ea typeface="Arial Unicode MS" pitchFamily="34" charset="-128"/>
                <a:cs typeface="Arial Unicode MS" pitchFamily="34" charset="-128"/>
              </a:rPr>
              <a:t>Provides users with a snapshot of campus activity and direct access to all major features.</a:t>
            </a:r>
          </a:p>
          <a:p>
            <a:pPr lvl="0">
              <a:lnSpc>
                <a:spcPct val="150000"/>
              </a:lnSpc>
            </a:pPr>
            <a:endParaRPr lang="en-US" sz="1800" dirty="0">
              <a:solidFill>
                <a:schemeClr val="tx1">
                  <a:lumMod val="50000"/>
                  <a:lumOff val="50000"/>
                </a:schemeClr>
              </a:solidFill>
              <a:latin typeface="Arial Unicode MS" pitchFamily="34" charset="-128"/>
              <a:ea typeface="Arial Unicode MS" pitchFamily="34" charset="-128"/>
              <a:cs typeface="Arial Unicode MS" pitchFamily="34" charset="-128"/>
            </a:endParaRPr>
          </a:p>
          <a:p>
            <a:pPr lvl="0">
              <a:lnSpc>
                <a:spcPct val="150000"/>
              </a:lnSpc>
            </a:pPr>
            <a:endParaRPr lang="en-US" sz="1800" dirty="0">
              <a:solidFill>
                <a:schemeClr val="tx1">
                  <a:lumMod val="50000"/>
                  <a:lumOff val="50000"/>
                </a:schemeClr>
              </a:solidFill>
              <a:latin typeface="Arial Unicode MS" pitchFamily="34" charset="-128"/>
              <a:ea typeface="Arial Unicode MS" pitchFamily="34" charset="-128"/>
              <a:cs typeface="Arial Unicode MS" pitchFamily="34" charset="-128"/>
            </a:endParaRPr>
          </a:p>
          <a:p>
            <a:pPr lvl="0">
              <a:lnSpc>
                <a:spcPct val="150000"/>
              </a:lnSpc>
            </a:pPr>
            <a:endParaRPr lang="en-US" sz="1800" dirty="0">
              <a:solidFill>
                <a:schemeClr val="tx1">
                  <a:lumMod val="50000"/>
                  <a:lumOff val="50000"/>
                </a:schemeClr>
              </a:solidFill>
              <a:latin typeface="Arial Unicode MS" pitchFamily="34" charset="-128"/>
              <a:ea typeface="Arial Unicode MS" pitchFamily="34" charset="-128"/>
              <a:cs typeface="Arial Unicode MS" pitchFamily="34" charset="-128"/>
            </a:endParaRPr>
          </a:p>
          <a:p>
            <a:pPr lvl="0">
              <a:lnSpc>
                <a:spcPct val="150000"/>
              </a:lnSpc>
            </a:pPr>
            <a:endParaRPr dirty="0">
              <a:solidFill>
                <a:schemeClr val="tx1">
                  <a:lumMod val="50000"/>
                  <a:lumOff val="50000"/>
                </a:schemeClr>
              </a:solidFill>
              <a:latin typeface="Arial Unicode MS" pitchFamily="34" charset="-128"/>
              <a:ea typeface="Arial Unicode MS" pitchFamily="34" charset="-128"/>
              <a:cs typeface="Arial Unicode MS" pitchFamily="34" charset="-128"/>
            </a:endParaRPr>
          </a:p>
        </p:txBody>
      </p:sp>
      <p:sp>
        <p:nvSpPr>
          <p:cNvPr id="174" name="Google Shape;174;p18"/>
          <p:cNvSpPr txBox="1"/>
          <p:nvPr/>
        </p:nvSpPr>
        <p:spPr>
          <a:xfrm>
            <a:off x="952500" y="4810125"/>
            <a:ext cx="8732274" cy="415498"/>
          </a:xfrm>
          <a:prstGeom prst="rect">
            <a:avLst/>
          </a:prstGeom>
          <a:noFill/>
          <a:ln>
            <a:noFill/>
          </a:ln>
        </p:spPr>
        <p:txBody>
          <a:bodyPr spcFirstLastPara="1" wrap="square" lIns="0" tIns="0" rIns="0" bIns="0" anchor="t" anchorCtr="0">
            <a:spAutoFit/>
          </a:bodyPr>
          <a:lstStyle/>
          <a:p>
            <a:pPr lvl="0">
              <a:lnSpc>
                <a:spcPct val="150000"/>
              </a:lnSpc>
            </a:pPr>
            <a:r>
              <a:rPr lang="en-US" sz="1800" b="1" i="0" u="none" strike="noStrike" cap="none" dirty="0">
                <a:solidFill>
                  <a:srgbClr val="334155"/>
                </a:solidFill>
                <a:latin typeface="Open Sans"/>
                <a:ea typeface="Open Sans"/>
                <a:cs typeface="Open Sans"/>
                <a:sym typeface="Open Sans"/>
              </a:rPr>
              <a:t>Submission Page:</a:t>
            </a:r>
            <a:r>
              <a:rPr lang="en-US" sz="1800" dirty="0">
                <a:solidFill>
                  <a:schemeClr val="tx1">
                    <a:lumMod val="50000"/>
                    <a:lumOff val="50000"/>
                  </a:schemeClr>
                </a:solidFill>
                <a:latin typeface="Arial Unicode MS" pitchFamily="34" charset="-128"/>
                <a:ea typeface="Arial Unicode MS" pitchFamily="34" charset="-128"/>
                <a:cs typeface="Arial Unicode MS" pitchFamily="34" charset="-128"/>
              </a:rPr>
              <a:t> A simple and efficient interface for reporting lost or found items.</a:t>
            </a:r>
            <a:r>
              <a:rPr lang="en-US" sz="1800" b="0" i="0" u="none" strike="noStrike" cap="none" dirty="0">
                <a:solidFill>
                  <a:srgbClr val="334155"/>
                </a:solidFill>
                <a:latin typeface="Open Sans"/>
                <a:ea typeface="Open Sans"/>
                <a:cs typeface="Open Sans"/>
                <a:sym typeface="Open Sans"/>
              </a:rPr>
              <a:t> </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C0DD67F-B474-6E58-8492-F766FBD52650}"/>
              </a:ext>
            </a:extLst>
          </p:cNvPr>
          <p:cNvSpPr txBox="1"/>
          <p:nvPr/>
        </p:nvSpPr>
        <p:spPr>
          <a:xfrm>
            <a:off x="817307" y="311527"/>
            <a:ext cx="7344696"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600" b="1" i="0" u="none" strike="noStrike" kern="0" cap="none" spc="0" normalizeH="0" baseline="0" noProof="0" dirty="0">
                <a:ln>
                  <a:noFill/>
                </a:ln>
                <a:solidFill>
                  <a:srgbClr val="002060"/>
                </a:solidFill>
                <a:effectLst/>
                <a:uLnTx/>
                <a:uFillTx/>
                <a:latin typeface="Montserrat"/>
                <a:ea typeface="Montserrat"/>
                <a:cs typeface="Montserrat"/>
                <a:sym typeface="Montserrat"/>
              </a:rPr>
              <a:t>Registration Page</a:t>
            </a:r>
            <a:endParaRPr kumimoji="0" lang="en-US" sz="1400" b="0" i="0" u="none" strike="noStrike" kern="0" cap="none" spc="0" normalizeH="0" baseline="0" noProof="0" dirty="0">
              <a:ln>
                <a:noFill/>
              </a:ln>
              <a:solidFill>
                <a:srgbClr val="002060"/>
              </a:solidFill>
              <a:effectLst/>
              <a:uLnTx/>
              <a:uFillTx/>
              <a:latin typeface="Arial"/>
              <a:cs typeface="Arial"/>
              <a:sym typeface="Arial"/>
            </a:endParaRPr>
          </a:p>
        </p:txBody>
      </p:sp>
      <p:pic>
        <p:nvPicPr>
          <p:cNvPr id="3" name="Google Shape;182;p19" descr="image.png">
            <a:extLst>
              <a:ext uri="{FF2B5EF4-FFF2-40B4-BE49-F238E27FC236}">
                <a16:creationId xmlns:a16="http://schemas.microsoft.com/office/drawing/2014/main" id="{349A6492-C990-8E2A-6801-08BDFF111886}"/>
              </a:ext>
            </a:extLst>
          </p:cNvPr>
          <p:cNvPicPr preferRelativeResize="0"/>
          <p:nvPr/>
        </p:nvPicPr>
        <p:blipFill rotWithShape="1">
          <a:blip r:embed="rId2">
            <a:alphaModFix/>
          </a:blip>
          <a:srcRect/>
          <a:stretch/>
        </p:blipFill>
        <p:spPr>
          <a:xfrm>
            <a:off x="0" y="6743700"/>
            <a:ext cx="12192000" cy="114300"/>
          </a:xfrm>
          <a:prstGeom prst="rect">
            <a:avLst/>
          </a:prstGeom>
          <a:noFill/>
          <a:ln>
            <a:noFill/>
          </a:ln>
        </p:spPr>
      </p:pic>
      <p:sp>
        <p:nvSpPr>
          <p:cNvPr id="4" name="Google Shape;184;p19">
            <a:extLst>
              <a:ext uri="{FF2B5EF4-FFF2-40B4-BE49-F238E27FC236}">
                <a16:creationId xmlns:a16="http://schemas.microsoft.com/office/drawing/2014/main" id="{19115A99-9758-B284-DAB7-74F4F80FF3FC}"/>
              </a:ext>
            </a:extLst>
          </p:cNvPr>
          <p:cNvSpPr/>
          <p:nvPr/>
        </p:nvSpPr>
        <p:spPr>
          <a:xfrm>
            <a:off x="571500" y="1123950"/>
            <a:ext cx="11049000" cy="45719"/>
          </a:xfrm>
          <a:prstGeom prst="roundRect">
            <a:avLst>
              <a:gd name="adj" fmla="val 50000"/>
            </a:avLst>
          </a:prstGeom>
          <a:solidFill>
            <a:srgbClr val="EAB30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 name="TextBox 11">
            <a:extLst>
              <a:ext uri="{FF2B5EF4-FFF2-40B4-BE49-F238E27FC236}">
                <a16:creationId xmlns:a16="http://schemas.microsoft.com/office/drawing/2014/main" id="{927E34B8-C96C-EBC1-D501-58F8E2168967}"/>
              </a:ext>
            </a:extLst>
          </p:cNvPr>
          <p:cNvSpPr txBox="1"/>
          <p:nvPr/>
        </p:nvSpPr>
        <p:spPr>
          <a:xfrm>
            <a:off x="571500" y="1435510"/>
            <a:ext cx="5268861" cy="875496"/>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800" b="0" i="0" u="none" strike="noStrike" kern="0" cap="none" spc="0" normalizeH="0" baseline="0" noProof="0" dirty="0">
                <a:ln>
                  <a:noFill/>
                </a:ln>
                <a:solidFill>
                  <a:srgbClr val="000000">
                    <a:lumMod val="50000"/>
                    <a:lumOff val="50000"/>
                  </a:srgbClr>
                </a:solidFill>
                <a:effectLst/>
                <a:uLnTx/>
                <a:uFillTx/>
                <a:latin typeface="Arial Unicode MS" pitchFamily="34" charset="-128"/>
                <a:ea typeface="Arial Unicode MS" pitchFamily="34" charset="-128"/>
                <a:cs typeface="Arial Unicode MS" pitchFamily="34" charset="-128"/>
                <a:sym typeface="Arial"/>
              </a:rPr>
              <a:t>The initial </a:t>
            </a:r>
            <a:r>
              <a:rPr kumimoji="0" lang="en-US" sz="1800" b="0" i="0" u="none" strike="noStrike" kern="0" cap="none" spc="0" normalizeH="0" baseline="0" noProof="0" dirty="0">
                <a:ln>
                  <a:noFill/>
                </a:ln>
                <a:solidFill>
                  <a:srgbClr val="000000">
                    <a:lumMod val="50000"/>
                    <a:lumOff val="50000"/>
                  </a:srgbClr>
                </a:solidFill>
                <a:effectLst/>
                <a:uLnTx/>
                <a:uFillTx/>
                <a:latin typeface="Times New Roman" panose="02020603050405020304" pitchFamily="18" charset="0"/>
                <a:ea typeface="Arial Unicode MS" pitchFamily="34" charset="-128"/>
                <a:cs typeface="Times New Roman" panose="02020603050405020304" pitchFamily="18" charset="0"/>
                <a:sym typeface="Arial"/>
              </a:rPr>
              <a:t>registration</a:t>
            </a:r>
            <a:r>
              <a:rPr kumimoji="0" lang="en-US" sz="1800" b="0" i="0" u="none" strike="noStrike" kern="0" cap="none" spc="0" normalizeH="0" baseline="0" noProof="0" dirty="0">
                <a:ln>
                  <a:noFill/>
                </a:ln>
                <a:solidFill>
                  <a:srgbClr val="000000">
                    <a:lumMod val="50000"/>
                    <a:lumOff val="50000"/>
                  </a:srgbClr>
                </a:solidFill>
                <a:effectLst/>
                <a:uLnTx/>
                <a:uFillTx/>
                <a:latin typeface="Arial Unicode MS" pitchFamily="34" charset="-128"/>
                <a:ea typeface="Arial Unicode MS" pitchFamily="34" charset="-128"/>
                <a:cs typeface="Arial Unicode MS" pitchFamily="34" charset="-128"/>
                <a:sym typeface="Arial"/>
              </a:rPr>
              <a:t> page for new campus members.</a:t>
            </a:r>
            <a:endParaRPr kumimoji="0" lang="en-US" sz="1400" b="0" i="0" u="none" strike="noStrike" kern="0" cap="none" spc="0" normalizeH="0" baseline="0" noProof="0" dirty="0">
              <a:ln>
                <a:noFill/>
              </a:ln>
              <a:solidFill>
                <a:srgbClr val="000000">
                  <a:lumMod val="50000"/>
                  <a:lumOff val="50000"/>
                </a:srgbClr>
              </a:solidFill>
              <a:effectLst/>
              <a:uLnTx/>
              <a:uFillTx/>
              <a:latin typeface="Arial Unicode MS" pitchFamily="34" charset="-128"/>
              <a:ea typeface="Arial Unicode MS" pitchFamily="34" charset="-128"/>
              <a:cs typeface="Arial Unicode MS" pitchFamily="34" charset="-128"/>
              <a:sym typeface="Arial"/>
            </a:endParaRPr>
          </a:p>
        </p:txBody>
      </p:sp>
      <p:sp>
        <p:nvSpPr>
          <p:cNvPr id="13" name="TextBox 12">
            <a:extLst>
              <a:ext uri="{FF2B5EF4-FFF2-40B4-BE49-F238E27FC236}">
                <a16:creationId xmlns:a16="http://schemas.microsoft.com/office/drawing/2014/main" id="{3DBA5203-43AE-A9E2-9054-DFD998A69E02}"/>
              </a:ext>
            </a:extLst>
          </p:cNvPr>
          <p:cNvSpPr txBox="1"/>
          <p:nvPr/>
        </p:nvSpPr>
        <p:spPr>
          <a:xfrm>
            <a:off x="571500" y="2571689"/>
            <a:ext cx="5072217" cy="1290290"/>
          </a:xfrm>
          <a:prstGeom prst="rect">
            <a:avLst/>
          </a:prstGeom>
          <a:noFill/>
        </p:spPr>
        <p:txBody>
          <a:bodyPr wrap="square" rtlCol="0">
            <a:spAutoFit/>
          </a:bodyPr>
          <a:lstStyle/>
          <a:p>
            <a:pPr>
              <a:lnSpc>
                <a:spcPct val="150000"/>
              </a:lnSpc>
            </a:pPr>
            <a:r>
              <a:rPr kumimoji="0" lang="en-US" sz="1800" b="1" i="0" u="none" strike="noStrike" kern="0" cap="none" spc="0" normalizeH="0" baseline="0" noProof="0" dirty="0">
                <a:ln>
                  <a:noFill/>
                </a:ln>
                <a:solidFill>
                  <a:srgbClr val="334155"/>
                </a:solidFill>
                <a:effectLst/>
                <a:uLnTx/>
                <a:uFillTx/>
                <a:latin typeface="Open Sans"/>
                <a:ea typeface="Open Sans"/>
                <a:cs typeface="Open Sans"/>
                <a:sym typeface="Open Sans"/>
              </a:rPr>
              <a:t>Function: </a:t>
            </a:r>
            <a:r>
              <a:rPr kumimoji="0" lang="en-US" sz="1800" b="0" i="0" u="none" strike="noStrike" kern="0" cap="none" spc="0" normalizeH="0" baseline="0" noProof="0" dirty="0">
                <a:ln>
                  <a:noFill/>
                </a:ln>
                <a:solidFill>
                  <a:srgbClr val="000000">
                    <a:lumMod val="50000"/>
                    <a:lumOff val="50000"/>
                  </a:srgbClr>
                </a:solidFill>
                <a:effectLst/>
                <a:uLnTx/>
                <a:uFillTx/>
                <a:latin typeface="Arial Unicode MS" pitchFamily="34" charset="-128"/>
                <a:ea typeface="Arial Unicode MS" pitchFamily="34" charset="-128"/>
                <a:cs typeface="Arial Unicode MS" pitchFamily="34" charset="-128"/>
                <a:sym typeface="Arial"/>
              </a:rPr>
              <a:t>Collects necessary details (Full Name, Campus </a:t>
            </a:r>
            <a:r>
              <a:rPr kumimoji="0" lang="en-US" sz="1800" b="0" i="0" u="none" strike="noStrike" kern="0" cap="none" spc="0" normalizeH="0" baseline="0" noProof="0" dirty="0">
                <a:ln>
                  <a:noFill/>
                </a:ln>
                <a:solidFill>
                  <a:srgbClr val="000000">
                    <a:lumMod val="50000"/>
                    <a:lumOff val="50000"/>
                  </a:srgbClr>
                </a:solidFill>
                <a:effectLst/>
                <a:uLnTx/>
                <a:uFillTx/>
                <a:latin typeface="Times New Roman" panose="02020603050405020304" pitchFamily="18" charset="0"/>
                <a:ea typeface="Arial Unicode MS" pitchFamily="34" charset="-128"/>
                <a:cs typeface="Times New Roman" panose="02020603050405020304" pitchFamily="18" charset="0"/>
                <a:sym typeface="Arial"/>
              </a:rPr>
              <a:t>Email</a:t>
            </a:r>
            <a:r>
              <a:rPr kumimoji="0" lang="en-US" sz="1800" b="0" i="0" u="none" strike="noStrike" kern="0" cap="none" spc="0" normalizeH="0" baseline="0" noProof="0" dirty="0">
                <a:ln>
                  <a:noFill/>
                </a:ln>
                <a:solidFill>
                  <a:srgbClr val="000000">
                    <a:lumMod val="50000"/>
                    <a:lumOff val="50000"/>
                  </a:srgbClr>
                </a:solidFill>
                <a:effectLst/>
                <a:uLnTx/>
                <a:uFillTx/>
                <a:latin typeface="Arial Unicode MS" pitchFamily="34" charset="-128"/>
                <a:ea typeface="Arial Unicode MS" pitchFamily="34" charset="-128"/>
                <a:cs typeface="Arial Unicode MS" pitchFamily="34" charset="-128"/>
                <a:sym typeface="Arial"/>
              </a:rPr>
              <a:t>, Password) to create a new user account.</a:t>
            </a:r>
            <a:endParaRPr lang="en-IN" dirty="0"/>
          </a:p>
        </p:txBody>
      </p:sp>
      <p:sp>
        <p:nvSpPr>
          <p:cNvPr id="14" name="TextBox 13">
            <a:extLst>
              <a:ext uri="{FF2B5EF4-FFF2-40B4-BE49-F238E27FC236}">
                <a16:creationId xmlns:a16="http://schemas.microsoft.com/office/drawing/2014/main" id="{F2EDBFA6-6A28-037A-FD4D-D5F6971B7414}"/>
              </a:ext>
            </a:extLst>
          </p:cNvPr>
          <p:cNvSpPr txBox="1"/>
          <p:nvPr/>
        </p:nvSpPr>
        <p:spPr>
          <a:xfrm>
            <a:off x="571500" y="4208206"/>
            <a:ext cx="5072217" cy="1290290"/>
          </a:xfrm>
          <a:prstGeom prst="rect">
            <a:avLst/>
          </a:prstGeom>
          <a:noFill/>
        </p:spPr>
        <p:txBody>
          <a:bodyPr wrap="square" rtlCol="0">
            <a:spAutoFit/>
          </a:bodyPr>
          <a:lstStyle/>
          <a:p>
            <a:pPr>
              <a:lnSpc>
                <a:spcPct val="150000"/>
              </a:lnSpc>
            </a:pPr>
            <a:r>
              <a:rPr kumimoji="0" lang="en-US" sz="1800" b="1" i="0" u="none" strike="noStrike" kern="0" cap="none" spc="0" normalizeH="0" baseline="0" noProof="0" dirty="0">
                <a:ln>
                  <a:noFill/>
                </a:ln>
                <a:solidFill>
                  <a:srgbClr val="334155"/>
                </a:solidFill>
                <a:effectLst/>
                <a:uLnTx/>
                <a:uFillTx/>
                <a:latin typeface="Open Sans"/>
                <a:ea typeface="Open Sans"/>
                <a:cs typeface="Open Sans"/>
                <a:sym typeface="Open Sans"/>
              </a:rPr>
              <a:t>Key Contents: </a:t>
            </a:r>
            <a:r>
              <a:rPr kumimoji="0" lang="en-US" sz="1800" b="0" i="0" u="none" strike="noStrike" kern="0" cap="none" spc="0" normalizeH="0" baseline="0" noProof="0" dirty="0">
                <a:ln>
                  <a:noFill/>
                </a:ln>
                <a:solidFill>
                  <a:srgbClr val="000000">
                    <a:lumMod val="50000"/>
                    <a:lumOff val="50000"/>
                  </a:srgbClr>
                </a:solidFill>
                <a:effectLst/>
                <a:uLnTx/>
                <a:uFillTx/>
                <a:latin typeface="Arial Unicode MS" pitchFamily="34" charset="-128"/>
                <a:ea typeface="Arial Unicode MS" pitchFamily="34" charset="-128"/>
                <a:cs typeface="Arial Unicode MS" pitchFamily="34" charset="-128"/>
                <a:sym typeface="Arial"/>
              </a:rPr>
              <a:t>Input fields for user information, including </a:t>
            </a:r>
            <a:r>
              <a:rPr kumimoji="0" lang="en-US" sz="1800" b="0" i="0" u="none" strike="noStrike" kern="0" cap="none" spc="0" normalizeH="0" baseline="0" noProof="0" dirty="0">
                <a:ln>
                  <a:noFill/>
                </a:ln>
                <a:solidFill>
                  <a:srgbClr val="000000">
                    <a:lumMod val="50000"/>
                    <a:lumOff val="50000"/>
                  </a:srgbClr>
                </a:solidFill>
                <a:effectLst/>
                <a:uLnTx/>
                <a:uFillTx/>
                <a:latin typeface="Times New Roman" panose="02020603050405020304" pitchFamily="18" charset="0"/>
                <a:ea typeface="Arial Unicode MS" pitchFamily="34" charset="-128"/>
                <a:cs typeface="Times New Roman" panose="02020603050405020304" pitchFamily="18" charset="0"/>
                <a:sym typeface="Arial"/>
              </a:rPr>
              <a:t>separate</a:t>
            </a:r>
            <a:r>
              <a:rPr kumimoji="0" lang="en-US" sz="1800" b="0" i="0" u="none" strike="noStrike" kern="0" cap="none" spc="0" normalizeH="0" baseline="0" noProof="0" dirty="0">
                <a:ln>
                  <a:noFill/>
                </a:ln>
                <a:solidFill>
                  <a:srgbClr val="000000">
                    <a:lumMod val="50000"/>
                    <a:lumOff val="50000"/>
                  </a:srgbClr>
                </a:solidFill>
                <a:effectLst/>
                <a:uLnTx/>
                <a:uFillTx/>
                <a:latin typeface="Arial Unicode MS" pitchFamily="34" charset="-128"/>
                <a:ea typeface="Arial Unicode MS" pitchFamily="34" charset="-128"/>
                <a:cs typeface="Arial Unicode MS" pitchFamily="34" charset="-128"/>
                <a:sym typeface="Arial"/>
              </a:rPr>
              <a:t> fields for Password and Confirm Password.</a:t>
            </a:r>
            <a:endParaRPr lang="en-IN" dirty="0"/>
          </a:p>
        </p:txBody>
      </p:sp>
      <p:pic>
        <p:nvPicPr>
          <p:cNvPr id="8" name="Picture 7">
            <a:extLst>
              <a:ext uri="{FF2B5EF4-FFF2-40B4-BE49-F238E27FC236}">
                <a16:creationId xmlns:a16="http://schemas.microsoft.com/office/drawing/2014/main" id="{C9B0F7BA-73BF-5922-477D-19B427AFD72C}"/>
              </a:ext>
            </a:extLst>
          </p:cNvPr>
          <p:cNvPicPr>
            <a:picLocks noChangeAspect="1"/>
          </p:cNvPicPr>
          <p:nvPr/>
        </p:nvPicPr>
        <p:blipFill>
          <a:blip r:embed="rId3"/>
          <a:stretch>
            <a:fillRect/>
          </a:stretch>
        </p:blipFill>
        <p:spPr>
          <a:xfrm>
            <a:off x="7282599" y="1359907"/>
            <a:ext cx="4024497" cy="5004144"/>
          </a:xfrm>
          <a:prstGeom prst="rect">
            <a:avLst/>
          </a:prstGeom>
        </p:spPr>
      </p:pic>
    </p:spTree>
    <p:extLst>
      <p:ext uri="{BB962C8B-B14F-4D97-AF65-F5344CB8AC3E}">
        <p14:creationId xmlns:p14="http://schemas.microsoft.com/office/powerpoint/2010/main" val="11897104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81"/>
        <p:cNvGrpSpPr/>
        <p:nvPr/>
      </p:nvGrpSpPr>
      <p:grpSpPr>
        <a:xfrm>
          <a:off x="0" y="0"/>
          <a:ext cx="0" cy="0"/>
          <a:chOff x="0" y="0"/>
          <a:chExt cx="0" cy="0"/>
        </a:xfrm>
      </p:grpSpPr>
      <p:pic>
        <p:nvPicPr>
          <p:cNvPr id="182" name="Google Shape;182;p19" descr="image.png"/>
          <p:cNvPicPr preferRelativeResize="0"/>
          <p:nvPr/>
        </p:nvPicPr>
        <p:blipFill rotWithShape="1">
          <a:blip r:embed="rId3">
            <a:alphaModFix/>
          </a:blip>
          <a:srcRect/>
          <a:stretch/>
        </p:blipFill>
        <p:spPr>
          <a:xfrm>
            <a:off x="0" y="6743700"/>
            <a:ext cx="12192000" cy="114300"/>
          </a:xfrm>
          <a:prstGeom prst="rect">
            <a:avLst/>
          </a:prstGeom>
          <a:noFill/>
          <a:ln>
            <a:noFill/>
          </a:ln>
        </p:spPr>
      </p:pic>
      <p:sp>
        <p:nvSpPr>
          <p:cNvPr id="183" name="Google Shape;183;p19"/>
          <p:cNvSpPr txBox="1"/>
          <p:nvPr/>
        </p:nvSpPr>
        <p:spPr>
          <a:xfrm>
            <a:off x="571500" y="600359"/>
            <a:ext cx="11601450" cy="552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dirty="0">
                <a:solidFill>
                  <a:srgbClr val="002060"/>
                </a:solidFill>
                <a:latin typeface="Montserrat"/>
                <a:ea typeface="Montserrat"/>
                <a:cs typeface="Montserrat"/>
                <a:sym typeface="Montserrat"/>
              </a:rPr>
              <a:t>Login Page</a:t>
            </a:r>
            <a:endParaRPr dirty="0">
              <a:solidFill>
                <a:srgbClr val="002060"/>
              </a:solidFill>
            </a:endParaRPr>
          </a:p>
        </p:txBody>
      </p:sp>
      <p:sp>
        <p:nvSpPr>
          <p:cNvPr id="184" name="Google Shape;184;p19"/>
          <p:cNvSpPr/>
          <p:nvPr/>
        </p:nvSpPr>
        <p:spPr>
          <a:xfrm>
            <a:off x="571500" y="1123950"/>
            <a:ext cx="11049000" cy="45719"/>
          </a:xfrm>
          <a:prstGeom prst="roundRect">
            <a:avLst>
              <a:gd name="adj" fmla="val 50000"/>
            </a:avLst>
          </a:prstGeom>
          <a:solidFill>
            <a:srgbClr val="EAB30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6" name="Google Shape;186;p19"/>
          <p:cNvSpPr txBox="1"/>
          <p:nvPr/>
        </p:nvSpPr>
        <p:spPr>
          <a:xfrm>
            <a:off x="952500" y="1943099"/>
            <a:ext cx="5419725" cy="830997"/>
          </a:xfrm>
          <a:prstGeom prst="rect">
            <a:avLst/>
          </a:prstGeom>
          <a:noFill/>
          <a:ln>
            <a:noFill/>
          </a:ln>
        </p:spPr>
        <p:txBody>
          <a:bodyPr spcFirstLastPara="1" wrap="square" lIns="0" tIns="0" rIns="0" bIns="0" anchor="t" anchorCtr="0">
            <a:spAutoFit/>
          </a:bodyPr>
          <a:lstStyle/>
          <a:p>
            <a:pPr lvl="0">
              <a:lnSpc>
                <a:spcPct val="150000"/>
              </a:lnSpc>
            </a:pPr>
            <a:r>
              <a:rPr lang="en-US" sz="1800" dirty="0">
                <a:solidFill>
                  <a:schemeClr val="tx1">
                    <a:lumMod val="50000"/>
                    <a:lumOff val="50000"/>
                  </a:schemeClr>
                </a:solidFill>
              </a:rPr>
              <a:t>The gateway to the application, designed for quick and secure </a:t>
            </a:r>
            <a:r>
              <a:rPr lang="en-US" sz="1800" dirty="0">
                <a:solidFill>
                  <a:schemeClr val="tx1">
                    <a:lumMod val="50000"/>
                    <a:lumOff val="50000"/>
                  </a:schemeClr>
                </a:solidFill>
                <a:latin typeface="Times New Roman" panose="02020603050405020304" pitchFamily="18" charset="0"/>
                <a:cs typeface="Times New Roman" panose="02020603050405020304" pitchFamily="18" charset="0"/>
              </a:rPr>
              <a:t>access</a:t>
            </a:r>
            <a:r>
              <a:rPr lang="en-US" sz="1800" dirty="0">
                <a:solidFill>
                  <a:schemeClr val="tx1">
                    <a:lumMod val="50000"/>
                    <a:lumOff val="50000"/>
                  </a:schemeClr>
                </a:solidFill>
              </a:rPr>
              <a:t>.</a:t>
            </a:r>
            <a:endParaRPr dirty="0">
              <a:solidFill>
                <a:schemeClr val="tx1">
                  <a:lumMod val="50000"/>
                  <a:lumOff val="50000"/>
                </a:schemeClr>
              </a:solidFill>
            </a:endParaRPr>
          </a:p>
        </p:txBody>
      </p:sp>
      <p:sp>
        <p:nvSpPr>
          <p:cNvPr id="187" name="Google Shape;187;p19"/>
          <p:cNvSpPr txBox="1"/>
          <p:nvPr/>
        </p:nvSpPr>
        <p:spPr>
          <a:xfrm>
            <a:off x="952501" y="2927066"/>
            <a:ext cx="5143500" cy="1154162"/>
          </a:xfrm>
          <a:prstGeom prst="rect">
            <a:avLst/>
          </a:prstGeom>
          <a:noFill/>
          <a:ln>
            <a:noFill/>
          </a:ln>
        </p:spPr>
        <p:txBody>
          <a:bodyPr spcFirstLastPara="1" wrap="square" lIns="0" tIns="0" rIns="0" bIns="0" anchor="t" anchorCtr="0">
            <a:spAutoFit/>
          </a:bodyPr>
          <a:lstStyle/>
          <a:p>
            <a:pPr>
              <a:lnSpc>
                <a:spcPct val="150000"/>
              </a:lnSpc>
            </a:pPr>
            <a:r>
              <a:rPr lang="en-US" sz="1800" b="1" dirty="0">
                <a:solidFill>
                  <a:srgbClr val="334155"/>
                </a:solidFill>
                <a:latin typeface="Open Sans"/>
                <a:ea typeface="Open Sans"/>
                <a:cs typeface="Open Sans"/>
                <a:sym typeface="Open Sans"/>
              </a:rPr>
              <a:t>Function</a:t>
            </a:r>
            <a:r>
              <a:rPr lang="en-US" sz="1800" b="1" i="0" u="none" strike="noStrike" cap="none" dirty="0">
                <a:solidFill>
                  <a:srgbClr val="334155"/>
                </a:solidFill>
                <a:latin typeface="Open Sans"/>
                <a:ea typeface="Open Sans"/>
                <a:cs typeface="Open Sans"/>
                <a:sym typeface="Open Sans"/>
              </a:rPr>
              <a:t>: </a:t>
            </a:r>
            <a:r>
              <a:rPr lang="en-US" sz="1800" dirty="0">
                <a:solidFill>
                  <a:schemeClr val="tx1">
                    <a:lumMod val="50000"/>
                    <a:lumOff val="50000"/>
                  </a:schemeClr>
                </a:solidFill>
                <a:latin typeface="Arial Unicode MS" pitchFamily="34" charset="-128"/>
                <a:ea typeface="Arial Unicode MS" pitchFamily="34" charset="-128"/>
                <a:cs typeface="Arial Unicode MS" pitchFamily="34" charset="-128"/>
              </a:rPr>
              <a:t>Authenticates verified campus users using their email and password.</a:t>
            </a:r>
          </a:p>
          <a:p>
            <a:pPr marL="0" marR="0" lvl="0" indent="0" algn="l" rtl="0">
              <a:lnSpc>
                <a:spcPct val="150000"/>
              </a:lnSpc>
              <a:spcBef>
                <a:spcPts val="0"/>
              </a:spcBef>
              <a:spcAft>
                <a:spcPts val="0"/>
              </a:spcAft>
              <a:buNone/>
            </a:pPr>
            <a:endParaRPr dirty="0"/>
          </a:p>
        </p:txBody>
      </p:sp>
      <p:sp>
        <p:nvSpPr>
          <p:cNvPr id="188" name="Google Shape;188;p19"/>
          <p:cNvSpPr txBox="1"/>
          <p:nvPr/>
        </p:nvSpPr>
        <p:spPr>
          <a:xfrm>
            <a:off x="952501" y="3906244"/>
            <a:ext cx="5530186" cy="830997"/>
          </a:xfrm>
          <a:prstGeom prst="rect">
            <a:avLst/>
          </a:prstGeom>
          <a:noFill/>
          <a:ln>
            <a:noFill/>
          </a:ln>
        </p:spPr>
        <p:txBody>
          <a:bodyPr spcFirstLastPara="1" wrap="square" lIns="0" tIns="0" rIns="0" bIns="0" anchor="t" anchorCtr="0">
            <a:spAutoFit/>
          </a:bodyPr>
          <a:lstStyle/>
          <a:p>
            <a:r>
              <a:rPr lang="en-US" sz="1800" b="1" dirty="0">
                <a:solidFill>
                  <a:srgbClr val="334155"/>
                </a:solidFill>
                <a:latin typeface="Open Sans"/>
                <a:ea typeface="Open Sans"/>
                <a:cs typeface="Open Sans"/>
                <a:sym typeface="Open Sans"/>
              </a:rPr>
              <a:t>Key Content</a:t>
            </a:r>
            <a:r>
              <a:rPr lang="en-US" sz="1800" b="1" i="0" u="none" strike="noStrike" cap="none" dirty="0">
                <a:solidFill>
                  <a:srgbClr val="334155"/>
                </a:solidFill>
                <a:latin typeface="Open Sans"/>
                <a:ea typeface="Open Sans"/>
                <a:cs typeface="Open Sans"/>
                <a:sym typeface="Open Sans"/>
              </a:rPr>
              <a:t>:</a:t>
            </a:r>
            <a:r>
              <a:rPr lang="en-US" sz="1800" b="0" i="0" u="none" strike="noStrike" cap="none" dirty="0">
                <a:solidFill>
                  <a:srgbClr val="334155"/>
                </a:solidFill>
                <a:latin typeface="Open Sans"/>
                <a:ea typeface="Open Sans"/>
                <a:cs typeface="Open Sans"/>
                <a:sym typeface="Open Sans"/>
              </a:rPr>
              <a:t> </a:t>
            </a:r>
            <a:r>
              <a:rPr lang="en-US" sz="1800" dirty="0">
                <a:solidFill>
                  <a:schemeClr val="tx1">
                    <a:lumMod val="50000"/>
                    <a:lumOff val="50000"/>
                  </a:schemeClr>
                </a:solidFill>
              </a:rPr>
              <a:t>Fields for Campus Email and Password, along </a:t>
            </a:r>
            <a:r>
              <a:rPr lang="en-US" sz="1800" dirty="0">
                <a:solidFill>
                  <a:schemeClr val="tx1">
                    <a:lumMod val="50000"/>
                    <a:lumOff val="50000"/>
                  </a:schemeClr>
                </a:solidFill>
                <a:latin typeface="Times New Roman" panose="02020603050405020304" pitchFamily="18" charset="0"/>
                <a:cs typeface="Times New Roman" panose="02020603050405020304" pitchFamily="18" charset="0"/>
              </a:rPr>
              <a:t>with</a:t>
            </a:r>
            <a:r>
              <a:rPr lang="en-US" sz="1800" dirty="0">
                <a:solidFill>
                  <a:schemeClr val="tx1">
                    <a:lumMod val="50000"/>
                    <a:lumOff val="50000"/>
                  </a:schemeClr>
                </a:solidFill>
              </a:rPr>
              <a:t> links to Sign Up and Forgot Password</a:t>
            </a:r>
            <a:r>
              <a:rPr lang="en-US" sz="1800" dirty="0"/>
              <a:t>.</a:t>
            </a:r>
          </a:p>
        </p:txBody>
      </p:sp>
      <p:pic>
        <p:nvPicPr>
          <p:cNvPr id="4" name="Picture 3">
            <a:extLst>
              <a:ext uri="{FF2B5EF4-FFF2-40B4-BE49-F238E27FC236}">
                <a16:creationId xmlns:a16="http://schemas.microsoft.com/office/drawing/2014/main" id="{45AF7ACE-0272-4E25-DC3C-93B93238D86A}"/>
              </a:ext>
            </a:extLst>
          </p:cNvPr>
          <p:cNvPicPr>
            <a:picLocks noChangeAspect="1"/>
          </p:cNvPicPr>
          <p:nvPr/>
        </p:nvPicPr>
        <p:blipFill>
          <a:blip r:embed="rId4"/>
          <a:stretch>
            <a:fillRect/>
          </a:stretch>
        </p:blipFill>
        <p:spPr>
          <a:xfrm>
            <a:off x="6950177" y="1388707"/>
            <a:ext cx="4091448" cy="503507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81"/>
        <p:cNvGrpSpPr/>
        <p:nvPr/>
      </p:nvGrpSpPr>
      <p:grpSpPr>
        <a:xfrm>
          <a:off x="0" y="0"/>
          <a:ext cx="0" cy="0"/>
          <a:chOff x="0" y="0"/>
          <a:chExt cx="0" cy="0"/>
        </a:xfrm>
      </p:grpSpPr>
      <p:pic>
        <p:nvPicPr>
          <p:cNvPr id="182" name="Google Shape;182;p19" descr="image.png"/>
          <p:cNvPicPr preferRelativeResize="0"/>
          <p:nvPr/>
        </p:nvPicPr>
        <p:blipFill rotWithShape="1">
          <a:blip r:embed="rId3">
            <a:alphaModFix/>
          </a:blip>
          <a:srcRect/>
          <a:stretch/>
        </p:blipFill>
        <p:spPr>
          <a:xfrm>
            <a:off x="0" y="6743700"/>
            <a:ext cx="12192000" cy="114300"/>
          </a:xfrm>
          <a:prstGeom prst="rect">
            <a:avLst/>
          </a:prstGeom>
          <a:noFill/>
          <a:ln>
            <a:noFill/>
          </a:ln>
        </p:spPr>
      </p:pic>
      <p:sp>
        <p:nvSpPr>
          <p:cNvPr id="183" name="Google Shape;183;p19"/>
          <p:cNvSpPr txBox="1"/>
          <p:nvPr/>
        </p:nvSpPr>
        <p:spPr>
          <a:xfrm>
            <a:off x="571500" y="600359"/>
            <a:ext cx="11601450" cy="552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kumimoji="0" lang="en-US" sz="3600" b="1" i="0" u="none" strike="noStrike" kern="0" cap="none" spc="0" normalizeH="0" baseline="0" noProof="0" dirty="0">
                <a:ln>
                  <a:noFill/>
                </a:ln>
                <a:solidFill>
                  <a:srgbClr val="002060"/>
                </a:solidFill>
                <a:effectLst/>
                <a:uLnTx/>
                <a:uFillTx/>
                <a:latin typeface="Montserrat"/>
                <a:ea typeface="Montserrat"/>
                <a:cs typeface="Montserrat"/>
                <a:sym typeface="Montserrat"/>
              </a:rPr>
              <a:t>Landing Page</a:t>
            </a:r>
            <a:endParaRPr dirty="0">
              <a:solidFill>
                <a:srgbClr val="002060"/>
              </a:solidFill>
              <a:latin typeface="Times New Roman" panose="02020603050405020304" pitchFamily="18" charset="0"/>
              <a:cs typeface="Times New Roman" panose="02020603050405020304" pitchFamily="18" charset="0"/>
            </a:endParaRPr>
          </a:p>
        </p:txBody>
      </p:sp>
      <p:sp>
        <p:nvSpPr>
          <p:cNvPr id="184" name="Google Shape;184;p19"/>
          <p:cNvSpPr/>
          <p:nvPr/>
        </p:nvSpPr>
        <p:spPr>
          <a:xfrm>
            <a:off x="571500" y="1123950"/>
            <a:ext cx="11049000" cy="45719"/>
          </a:xfrm>
          <a:prstGeom prst="roundRect">
            <a:avLst>
              <a:gd name="adj" fmla="val 50000"/>
            </a:avLst>
          </a:prstGeom>
          <a:solidFill>
            <a:srgbClr val="EAB30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6" name="Google Shape;186;p19"/>
          <p:cNvSpPr txBox="1"/>
          <p:nvPr/>
        </p:nvSpPr>
        <p:spPr>
          <a:xfrm>
            <a:off x="571500" y="1274076"/>
            <a:ext cx="10360356" cy="415498"/>
          </a:xfrm>
          <a:prstGeom prst="rect">
            <a:avLst/>
          </a:prstGeom>
          <a:noFill/>
          <a:ln>
            <a:noFill/>
          </a:ln>
        </p:spPr>
        <p:txBody>
          <a:bodyPr spcFirstLastPara="1" wrap="square" lIns="0" tIns="0" rIns="0" bIns="0" anchor="t" anchorCtr="0">
            <a:spAutoFit/>
          </a:bodyPr>
          <a:lstStyle/>
          <a:p>
            <a:pPr lvl="0">
              <a:lnSpc>
                <a:spcPct val="150000"/>
              </a:lnSpc>
            </a:pPr>
            <a:r>
              <a:rPr lang="en-US" sz="1800" dirty="0">
                <a:solidFill>
                  <a:schemeClr val="tx1">
                    <a:lumMod val="50000"/>
                    <a:lumOff val="50000"/>
                  </a:schemeClr>
                </a:solidFill>
                <a:latin typeface="Arial Unicode MS" pitchFamily="34" charset="-128"/>
                <a:ea typeface="Arial Unicode MS" pitchFamily="34" charset="-128"/>
                <a:cs typeface="Arial Unicode MS" pitchFamily="34" charset="-128"/>
              </a:rPr>
              <a:t>The main </a:t>
            </a:r>
            <a:r>
              <a:rPr lang="en-US" sz="1800" dirty="0">
                <a:solidFill>
                  <a:schemeClr val="tx1">
                    <a:lumMod val="50000"/>
                    <a:lumOff val="50000"/>
                  </a:schemeClr>
                </a:solidFill>
                <a:latin typeface="Times New Roman" panose="02020603050405020304" pitchFamily="18" charset="0"/>
                <a:ea typeface="Arial Unicode MS" pitchFamily="34" charset="-128"/>
                <a:cs typeface="Times New Roman" panose="02020603050405020304" pitchFamily="18" charset="0"/>
              </a:rPr>
              <a:t>application</a:t>
            </a:r>
            <a:r>
              <a:rPr lang="en-US" sz="1800" dirty="0">
                <a:solidFill>
                  <a:schemeClr val="tx1">
                    <a:lumMod val="50000"/>
                    <a:lumOff val="50000"/>
                  </a:schemeClr>
                </a:solidFill>
                <a:latin typeface="Arial Unicode MS" pitchFamily="34" charset="-128"/>
                <a:ea typeface="Arial Unicode MS" pitchFamily="34" charset="-128"/>
                <a:cs typeface="Arial Unicode MS" pitchFamily="34" charset="-128"/>
              </a:rPr>
              <a:t> landing page and central user hub.</a:t>
            </a:r>
            <a:endParaRPr dirty="0">
              <a:solidFill>
                <a:schemeClr val="tx1">
                  <a:lumMod val="50000"/>
                  <a:lumOff val="50000"/>
                </a:schemeClr>
              </a:solidFill>
              <a:latin typeface="Arial Unicode MS" pitchFamily="34" charset="-128"/>
              <a:ea typeface="Arial Unicode MS" pitchFamily="34" charset="-128"/>
              <a:cs typeface="Arial Unicode MS" pitchFamily="34" charset="-128"/>
            </a:endParaRPr>
          </a:p>
        </p:txBody>
      </p:sp>
      <p:pic>
        <p:nvPicPr>
          <p:cNvPr id="4" name="Picture 3">
            <a:extLst>
              <a:ext uri="{FF2B5EF4-FFF2-40B4-BE49-F238E27FC236}">
                <a16:creationId xmlns:a16="http://schemas.microsoft.com/office/drawing/2014/main" id="{925B28BB-AF3B-4388-E795-DA92B1A8D4FD}"/>
              </a:ext>
            </a:extLst>
          </p:cNvPr>
          <p:cNvPicPr>
            <a:picLocks noChangeAspect="1"/>
          </p:cNvPicPr>
          <p:nvPr/>
        </p:nvPicPr>
        <p:blipFill>
          <a:blip r:embed="rId4"/>
          <a:stretch>
            <a:fillRect/>
          </a:stretch>
        </p:blipFill>
        <p:spPr>
          <a:xfrm>
            <a:off x="1192047" y="1676400"/>
            <a:ext cx="10360356" cy="4980836"/>
          </a:xfrm>
          <a:prstGeom prst="rect">
            <a:avLst/>
          </a:prstGeom>
        </p:spPr>
      </p:pic>
    </p:spTree>
    <p:extLst>
      <p:ext uri="{BB962C8B-B14F-4D97-AF65-F5344CB8AC3E}">
        <p14:creationId xmlns:p14="http://schemas.microsoft.com/office/powerpoint/2010/main" val="31279993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81"/>
        <p:cNvGrpSpPr/>
        <p:nvPr/>
      </p:nvGrpSpPr>
      <p:grpSpPr>
        <a:xfrm>
          <a:off x="0" y="0"/>
          <a:ext cx="0" cy="0"/>
          <a:chOff x="0" y="0"/>
          <a:chExt cx="0" cy="0"/>
        </a:xfrm>
      </p:grpSpPr>
      <p:pic>
        <p:nvPicPr>
          <p:cNvPr id="182" name="Google Shape;182;p19" descr="image.png"/>
          <p:cNvPicPr preferRelativeResize="0"/>
          <p:nvPr/>
        </p:nvPicPr>
        <p:blipFill rotWithShape="1">
          <a:blip r:embed="rId3">
            <a:alphaModFix/>
          </a:blip>
          <a:srcRect/>
          <a:stretch/>
        </p:blipFill>
        <p:spPr>
          <a:xfrm>
            <a:off x="0" y="6743700"/>
            <a:ext cx="12192000" cy="114300"/>
          </a:xfrm>
          <a:prstGeom prst="rect">
            <a:avLst/>
          </a:prstGeom>
          <a:noFill/>
          <a:ln>
            <a:noFill/>
          </a:ln>
        </p:spPr>
      </p:pic>
      <p:sp>
        <p:nvSpPr>
          <p:cNvPr id="183" name="Google Shape;183;p19"/>
          <p:cNvSpPr txBox="1"/>
          <p:nvPr/>
        </p:nvSpPr>
        <p:spPr>
          <a:xfrm>
            <a:off x="571500" y="600359"/>
            <a:ext cx="11601450" cy="552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kumimoji="0" lang="en-US" sz="3600" b="1" i="0" u="none" strike="noStrike" kern="0" cap="none" spc="0" normalizeH="0" baseline="0" noProof="0" dirty="0">
                <a:ln>
                  <a:noFill/>
                </a:ln>
                <a:solidFill>
                  <a:srgbClr val="002060"/>
                </a:solidFill>
                <a:effectLst/>
                <a:uLnTx/>
                <a:uFillTx/>
                <a:latin typeface="Montserrat"/>
                <a:ea typeface="Montserrat"/>
                <a:cs typeface="Montserrat"/>
                <a:sym typeface="Montserrat"/>
              </a:rPr>
              <a:t>Contact Page</a:t>
            </a:r>
            <a:endParaRPr dirty="0">
              <a:solidFill>
                <a:srgbClr val="002060"/>
              </a:solidFill>
              <a:latin typeface="Times New Roman" panose="02020603050405020304" pitchFamily="18" charset="0"/>
              <a:cs typeface="Times New Roman" panose="02020603050405020304" pitchFamily="18" charset="0"/>
            </a:endParaRPr>
          </a:p>
        </p:txBody>
      </p:sp>
      <p:sp>
        <p:nvSpPr>
          <p:cNvPr id="184" name="Google Shape;184;p19"/>
          <p:cNvSpPr/>
          <p:nvPr/>
        </p:nvSpPr>
        <p:spPr>
          <a:xfrm>
            <a:off x="571500" y="1123950"/>
            <a:ext cx="11049000" cy="45719"/>
          </a:xfrm>
          <a:prstGeom prst="roundRect">
            <a:avLst>
              <a:gd name="adj" fmla="val 50000"/>
            </a:avLst>
          </a:prstGeom>
          <a:solidFill>
            <a:srgbClr val="EAB30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6" name="Google Shape;186;p19"/>
          <p:cNvSpPr txBox="1"/>
          <p:nvPr/>
        </p:nvSpPr>
        <p:spPr>
          <a:xfrm>
            <a:off x="774700" y="1527601"/>
            <a:ext cx="8546342" cy="276999"/>
          </a:xfrm>
          <a:prstGeom prst="rect">
            <a:avLst/>
          </a:prstGeom>
          <a:noFill/>
          <a:ln>
            <a:noFill/>
          </a:ln>
        </p:spPr>
        <p:txBody>
          <a:bodyPr spcFirstLastPara="1" wrap="square" lIns="0" tIns="0" rIns="0" bIns="0" anchor="t" anchorCtr="0">
            <a:spAutoFit/>
          </a:bodyPr>
          <a:lstStyle/>
          <a:p>
            <a:r>
              <a:rPr lang="en-US" sz="1800" dirty="0">
                <a:solidFill>
                  <a:schemeClr val="tx1">
                    <a:lumMod val="50000"/>
                    <a:lumOff val="50000"/>
                  </a:schemeClr>
                </a:solidFill>
                <a:latin typeface="Arial Unicode MS" pitchFamily="34" charset="-128"/>
                <a:ea typeface="Arial Unicode MS" pitchFamily="34" charset="-128"/>
                <a:cs typeface="Arial Unicode MS" pitchFamily="34" charset="-128"/>
              </a:rPr>
              <a:t>The dedicated </a:t>
            </a:r>
            <a:r>
              <a:rPr lang="en-US" sz="1800" dirty="0">
                <a:solidFill>
                  <a:schemeClr val="tx1">
                    <a:lumMod val="50000"/>
                    <a:lumOff val="50000"/>
                  </a:schemeClr>
                </a:solidFill>
                <a:latin typeface="Times New Roman" panose="02020603050405020304" pitchFamily="18" charset="0"/>
                <a:ea typeface="Arial Unicode MS" pitchFamily="34" charset="-128"/>
                <a:cs typeface="Times New Roman" panose="02020603050405020304" pitchFamily="18" charset="0"/>
              </a:rPr>
              <a:t>page</a:t>
            </a:r>
            <a:r>
              <a:rPr lang="en-US" sz="1800" dirty="0">
                <a:solidFill>
                  <a:schemeClr val="tx1">
                    <a:lumMod val="50000"/>
                    <a:lumOff val="50000"/>
                  </a:schemeClr>
                </a:solidFill>
                <a:latin typeface="Arial Unicode MS" pitchFamily="34" charset="-128"/>
                <a:ea typeface="Arial Unicode MS" pitchFamily="34" charset="-128"/>
                <a:cs typeface="Arial Unicode MS" pitchFamily="34" charset="-128"/>
              </a:rPr>
              <a:t> for users needing support or assistance.</a:t>
            </a:r>
          </a:p>
        </p:txBody>
      </p:sp>
      <p:sp>
        <p:nvSpPr>
          <p:cNvPr id="187" name="Google Shape;187;p19"/>
          <p:cNvSpPr txBox="1"/>
          <p:nvPr/>
        </p:nvSpPr>
        <p:spPr>
          <a:xfrm>
            <a:off x="934301" y="2043373"/>
            <a:ext cx="8109613" cy="415498"/>
          </a:xfrm>
          <a:prstGeom prst="rect">
            <a:avLst/>
          </a:prstGeom>
          <a:noFill/>
          <a:ln>
            <a:noFill/>
          </a:ln>
        </p:spPr>
        <p:txBody>
          <a:bodyPr spcFirstLastPara="1" wrap="square" lIns="0" tIns="0" rIns="0" bIns="0" anchor="t" anchorCtr="0">
            <a:spAutoFit/>
          </a:bodyPr>
          <a:lstStyle/>
          <a:p>
            <a:pPr>
              <a:lnSpc>
                <a:spcPct val="150000"/>
              </a:lnSpc>
            </a:pPr>
            <a:r>
              <a:rPr lang="en-US" sz="1800" b="1" dirty="0">
                <a:solidFill>
                  <a:srgbClr val="334155"/>
                </a:solidFill>
                <a:latin typeface="Open Sans"/>
                <a:ea typeface="Open Sans"/>
                <a:cs typeface="Open Sans"/>
                <a:sym typeface="Open Sans"/>
              </a:rPr>
              <a:t>Function: </a:t>
            </a:r>
            <a:r>
              <a:rPr lang="en-US" sz="1800" dirty="0"/>
              <a:t>Communicates the value proposition of </a:t>
            </a:r>
            <a:r>
              <a:rPr lang="en-US" sz="1800" dirty="0" err="1"/>
              <a:t>CampusTrack</a:t>
            </a:r>
            <a:r>
              <a:rPr lang="en-US" sz="1800" dirty="0"/>
              <a:t> to users.</a:t>
            </a:r>
            <a:endParaRPr dirty="0"/>
          </a:p>
        </p:txBody>
      </p:sp>
      <p:pic>
        <p:nvPicPr>
          <p:cNvPr id="4" name="Picture 3">
            <a:extLst>
              <a:ext uri="{FF2B5EF4-FFF2-40B4-BE49-F238E27FC236}">
                <a16:creationId xmlns:a16="http://schemas.microsoft.com/office/drawing/2014/main" id="{63D0AE44-D3A5-59F4-1E12-7D56C08B706E}"/>
              </a:ext>
            </a:extLst>
          </p:cNvPr>
          <p:cNvPicPr>
            <a:picLocks noChangeAspect="1"/>
          </p:cNvPicPr>
          <p:nvPr/>
        </p:nvPicPr>
        <p:blipFill>
          <a:blip r:embed="rId4"/>
          <a:stretch>
            <a:fillRect/>
          </a:stretch>
        </p:blipFill>
        <p:spPr>
          <a:xfrm>
            <a:off x="934301" y="2043373"/>
            <a:ext cx="9696655" cy="4593790"/>
          </a:xfrm>
          <a:prstGeom prst="rect">
            <a:avLst/>
          </a:prstGeom>
        </p:spPr>
      </p:pic>
    </p:spTree>
    <p:extLst>
      <p:ext uri="{BB962C8B-B14F-4D97-AF65-F5344CB8AC3E}">
        <p14:creationId xmlns:p14="http://schemas.microsoft.com/office/powerpoint/2010/main" val="380718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81"/>
        <p:cNvGrpSpPr/>
        <p:nvPr/>
      </p:nvGrpSpPr>
      <p:grpSpPr>
        <a:xfrm>
          <a:off x="0" y="0"/>
          <a:ext cx="0" cy="0"/>
          <a:chOff x="0" y="0"/>
          <a:chExt cx="0" cy="0"/>
        </a:xfrm>
      </p:grpSpPr>
      <p:pic>
        <p:nvPicPr>
          <p:cNvPr id="182" name="Google Shape;182;p19" descr="image.png"/>
          <p:cNvPicPr preferRelativeResize="0"/>
          <p:nvPr/>
        </p:nvPicPr>
        <p:blipFill rotWithShape="1">
          <a:blip r:embed="rId3">
            <a:alphaModFix/>
          </a:blip>
          <a:srcRect/>
          <a:stretch/>
        </p:blipFill>
        <p:spPr>
          <a:xfrm>
            <a:off x="0" y="6743700"/>
            <a:ext cx="12192000" cy="114300"/>
          </a:xfrm>
          <a:prstGeom prst="rect">
            <a:avLst/>
          </a:prstGeom>
          <a:noFill/>
          <a:ln>
            <a:noFill/>
          </a:ln>
        </p:spPr>
      </p:pic>
      <p:sp>
        <p:nvSpPr>
          <p:cNvPr id="183" name="Google Shape;183;p19"/>
          <p:cNvSpPr txBox="1"/>
          <p:nvPr/>
        </p:nvSpPr>
        <p:spPr>
          <a:xfrm>
            <a:off x="571500" y="600359"/>
            <a:ext cx="11601450" cy="552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kumimoji="0" lang="en-US" sz="3600" b="1" i="0" u="none" strike="noStrike" kern="0" cap="none" spc="0" normalizeH="0" baseline="0" noProof="0" dirty="0">
                <a:ln>
                  <a:noFill/>
                </a:ln>
                <a:solidFill>
                  <a:srgbClr val="002060"/>
                </a:solidFill>
                <a:effectLst/>
                <a:uLnTx/>
                <a:uFillTx/>
                <a:latin typeface="Montserrat"/>
                <a:ea typeface="Montserrat"/>
                <a:cs typeface="Montserrat"/>
                <a:sym typeface="Montserrat"/>
              </a:rPr>
              <a:t>Features/About Page</a:t>
            </a:r>
            <a:endParaRPr dirty="0">
              <a:solidFill>
                <a:srgbClr val="002060"/>
              </a:solidFill>
              <a:latin typeface="Times New Roman" panose="02020603050405020304" pitchFamily="18" charset="0"/>
              <a:cs typeface="Times New Roman" panose="02020603050405020304" pitchFamily="18" charset="0"/>
            </a:endParaRPr>
          </a:p>
        </p:txBody>
      </p:sp>
      <p:sp>
        <p:nvSpPr>
          <p:cNvPr id="184" name="Google Shape;184;p19"/>
          <p:cNvSpPr/>
          <p:nvPr/>
        </p:nvSpPr>
        <p:spPr>
          <a:xfrm>
            <a:off x="571500" y="1123950"/>
            <a:ext cx="11049000" cy="45719"/>
          </a:xfrm>
          <a:prstGeom prst="roundRect">
            <a:avLst>
              <a:gd name="adj" fmla="val 50000"/>
            </a:avLst>
          </a:prstGeom>
          <a:solidFill>
            <a:srgbClr val="EAB30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6" name="Google Shape;186;p19"/>
          <p:cNvSpPr txBox="1"/>
          <p:nvPr/>
        </p:nvSpPr>
        <p:spPr>
          <a:xfrm>
            <a:off x="571500" y="1527601"/>
            <a:ext cx="8546342" cy="415498"/>
          </a:xfrm>
          <a:prstGeom prst="rect">
            <a:avLst/>
          </a:prstGeom>
          <a:noFill/>
          <a:ln>
            <a:noFill/>
          </a:ln>
        </p:spPr>
        <p:txBody>
          <a:bodyPr spcFirstLastPara="1" wrap="square" lIns="0" tIns="0" rIns="0" bIns="0" anchor="t" anchorCtr="0">
            <a:spAutoFit/>
          </a:bodyPr>
          <a:lstStyle/>
          <a:p>
            <a:pPr lvl="0">
              <a:lnSpc>
                <a:spcPct val="150000"/>
              </a:lnSpc>
            </a:pPr>
            <a:r>
              <a:rPr lang="en-US" sz="1800" dirty="0">
                <a:solidFill>
                  <a:schemeClr val="tx1">
                    <a:lumMod val="50000"/>
                    <a:lumOff val="50000"/>
                  </a:schemeClr>
                </a:solidFill>
                <a:latin typeface="Times New Roman" panose="02020603050405020304" pitchFamily="18" charset="0"/>
                <a:ea typeface="Arial Unicode MS" pitchFamily="34" charset="-128"/>
                <a:cs typeface="Times New Roman" panose="02020603050405020304" pitchFamily="18" charset="0"/>
              </a:rPr>
              <a:t>An informative page detailing the benefits and capabilities of the platform.</a:t>
            </a:r>
            <a:endParaRPr dirty="0">
              <a:solidFill>
                <a:schemeClr val="tx1">
                  <a:lumMod val="50000"/>
                  <a:lumOff val="50000"/>
                </a:schemeClr>
              </a:solidFill>
              <a:latin typeface="Times New Roman" panose="02020603050405020304" pitchFamily="18" charset="0"/>
              <a:ea typeface="Arial Unicode MS" pitchFamily="34" charset="-128"/>
              <a:cs typeface="Times New Roman" panose="02020603050405020304" pitchFamily="18" charset="0"/>
            </a:endParaRPr>
          </a:p>
        </p:txBody>
      </p:sp>
      <p:pic>
        <p:nvPicPr>
          <p:cNvPr id="4" name="Picture 3">
            <a:extLst>
              <a:ext uri="{FF2B5EF4-FFF2-40B4-BE49-F238E27FC236}">
                <a16:creationId xmlns:a16="http://schemas.microsoft.com/office/drawing/2014/main" id="{D28E792B-2701-1CC7-56BA-FEAC53EF51ED}"/>
              </a:ext>
            </a:extLst>
          </p:cNvPr>
          <p:cNvPicPr>
            <a:picLocks noChangeAspect="1"/>
          </p:cNvPicPr>
          <p:nvPr/>
        </p:nvPicPr>
        <p:blipFill>
          <a:blip r:embed="rId4"/>
          <a:stretch>
            <a:fillRect/>
          </a:stretch>
        </p:blipFill>
        <p:spPr>
          <a:xfrm>
            <a:off x="1624586" y="1943099"/>
            <a:ext cx="8612024" cy="4607433"/>
          </a:xfrm>
          <a:prstGeom prst="rect">
            <a:avLst/>
          </a:prstGeom>
        </p:spPr>
      </p:pic>
    </p:spTree>
    <p:extLst>
      <p:ext uri="{BB962C8B-B14F-4D97-AF65-F5344CB8AC3E}">
        <p14:creationId xmlns:p14="http://schemas.microsoft.com/office/powerpoint/2010/main" val="17233967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225;p22" descr="image.png">
            <a:extLst>
              <a:ext uri="{FF2B5EF4-FFF2-40B4-BE49-F238E27FC236}">
                <a16:creationId xmlns:a16="http://schemas.microsoft.com/office/drawing/2014/main" id="{A8B7B58E-646C-E535-BFEC-4759191C7964}"/>
              </a:ext>
            </a:extLst>
          </p:cNvPr>
          <p:cNvPicPr preferRelativeResize="0"/>
          <p:nvPr/>
        </p:nvPicPr>
        <p:blipFill rotWithShape="1">
          <a:blip r:embed="rId2">
            <a:alphaModFix/>
          </a:blip>
          <a:srcRect/>
          <a:stretch/>
        </p:blipFill>
        <p:spPr>
          <a:xfrm>
            <a:off x="0" y="6778113"/>
            <a:ext cx="12192000" cy="114300"/>
          </a:xfrm>
          <a:prstGeom prst="rect">
            <a:avLst/>
          </a:prstGeom>
          <a:noFill/>
          <a:ln>
            <a:noFill/>
          </a:ln>
        </p:spPr>
      </p:pic>
      <p:sp>
        <p:nvSpPr>
          <p:cNvPr id="5" name="TextBox 4">
            <a:extLst>
              <a:ext uri="{FF2B5EF4-FFF2-40B4-BE49-F238E27FC236}">
                <a16:creationId xmlns:a16="http://schemas.microsoft.com/office/drawing/2014/main" id="{0B583225-AE0B-DF1F-6F21-56AC48E96EC3}"/>
              </a:ext>
            </a:extLst>
          </p:cNvPr>
          <p:cNvSpPr txBox="1"/>
          <p:nvPr/>
        </p:nvSpPr>
        <p:spPr>
          <a:xfrm>
            <a:off x="1238865" y="2379406"/>
            <a:ext cx="9714270" cy="1446550"/>
          </a:xfrm>
          <a:prstGeom prst="rect">
            <a:avLst/>
          </a:prstGeom>
          <a:noFill/>
        </p:spPr>
        <p:txBody>
          <a:bodyPr wrap="square" rtlCol="0">
            <a:spAutoFit/>
          </a:bodyPr>
          <a:lstStyle/>
          <a:p>
            <a:pPr algn="ctr"/>
            <a:r>
              <a:rPr lang="en-IN" sz="4400" dirty="0">
                <a:solidFill>
                  <a:schemeClr val="bg2"/>
                </a:solidFill>
                <a:latin typeface="Times New Roman" panose="02020603050405020304" pitchFamily="18" charset="0"/>
                <a:cs typeface="Times New Roman" panose="02020603050405020304" pitchFamily="18" charset="0"/>
              </a:rPr>
              <a:t>MILESTONE -2 </a:t>
            </a:r>
          </a:p>
          <a:p>
            <a:pPr algn="ctr"/>
            <a:r>
              <a:rPr lang="en-IN" sz="4400" dirty="0">
                <a:solidFill>
                  <a:schemeClr val="bg2"/>
                </a:solidFill>
                <a:latin typeface="Times New Roman" panose="02020603050405020304" pitchFamily="18" charset="0"/>
                <a:cs typeface="Times New Roman" panose="02020603050405020304" pitchFamily="18" charset="0"/>
              </a:rPr>
              <a:t>Lost/Found Submission Form</a:t>
            </a:r>
          </a:p>
        </p:txBody>
      </p:sp>
    </p:spTree>
    <p:extLst>
      <p:ext uri="{BB962C8B-B14F-4D97-AF65-F5344CB8AC3E}">
        <p14:creationId xmlns:p14="http://schemas.microsoft.com/office/powerpoint/2010/main" val="11646844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24"/>
        <p:cNvGrpSpPr/>
        <p:nvPr/>
      </p:nvGrpSpPr>
      <p:grpSpPr>
        <a:xfrm>
          <a:off x="0" y="0"/>
          <a:ext cx="0" cy="0"/>
          <a:chOff x="0" y="0"/>
          <a:chExt cx="0" cy="0"/>
        </a:xfrm>
      </p:grpSpPr>
      <p:pic>
        <p:nvPicPr>
          <p:cNvPr id="225" name="Google Shape;225;p22" descr="image.png"/>
          <p:cNvPicPr preferRelativeResize="0"/>
          <p:nvPr/>
        </p:nvPicPr>
        <p:blipFill rotWithShape="1">
          <a:blip r:embed="rId3">
            <a:alphaModFix/>
          </a:blip>
          <a:srcRect/>
          <a:stretch/>
        </p:blipFill>
        <p:spPr>
          <a:xfrm>
            <a:off x="0" y="6778113"/>
            <a:ext cx="12192000" cy="114300"/>
          </a:xfrm>
          <a:prstGeom prst="rect">
            <a:avLst/>
          </a:prstGeom>
          <a:noFill/>
          <a:ln>
            <a:noFill/>
          </a:ln>
        </p:spPr>
      </p:pic>
      <p:sp>
        <p:nvSpPr>
          <p:cNvPr id="2" name="TextBox 1">
            <a:extLst>
              <a:ext uri="{FF2B5EF4-FFF2-40B4-BE49-F238E27FC236}">
                <a16:creationId xmlns:a16="http://schemas.microsoft.com/office/drawing/2014/main" id="{05581DDF-B98F-3F80-F922-CDE31D765203}"/>
              </a:ext>
            </a:extLst>
          </p:cNvPr>
          <p:cNvSpPr txBox="1"/>
          <p:nvPr/>
        </p:nvSpPr>
        <p:spPr>
          <a:xfrm>
            <a:off x="525866" y="501445"/>
            <a:ext cx="9650521" cy="1415772"/>
          </a:xfrm>
          <a:prstGeom prst="rect">
            <a:avLst/>
          </a:prstGeom>
          <a:noFill/>
        </p:spPr>
        <p:txBody>
          <a:bodyPr wrap="square" rtlCol="0">
            <a:spAutoFit/>
          </a:bodyPr>
          <a:lstStyle/>
          <a:p>
            <a:r>
              <a:rPr lang="en-US" sz="3600" b="1" dirty="0">
                <a:solidFill>
                  <a:srgbClr val="004D99"/>
                </a:solidFill>
                <a:latin typeface="Montserrat"/>
                <a:ea typeface="Montserrat"/>
                <a:cs typeface="Montserrat"/>
                <a:sym typeface="Montserrat"/>
              </a:rPr>
              <a:t>Lost &amp; Found Item Submission Page</a:t>
            </a:r>
          </a:p>
          <a:p>
            <a:endParaRPr lang="en-US" sz="3600" dirty="0"/>
          </a:p>
          <a:p>
            <a:endParaRPr lang="en-US" dirty="0"/>
          </a:p>
        </p:txBody>
      </p:sp>
      <p:sp>
        <p:nvSpPr>
          <p:cNvPr id="4" name="Google Shape;168;p18">
            <a:extLst>
              <a:ext uri="{FF2B5EF4-FFF2-40B4-BE49-F238E27FC236}">
                <a16:creationId xmlns:a16="http://schemas.microsoft.com/office/drawing/2014/main" id="{A00D6F63-DCFB-5DBF-2DCB-9FA3DB5931D6}"/>
              </a:ext>
            </a:extLst>
          </p:cNvPr>
          <p:cNvSpPr/>
          <p:nvPr/>
        </p:nvSpPr>
        <p:spPr>
          <a:xfrm>
            <a:off x="437376" y="1078336"/>
            <a:ext cx="10993034" cy="45719"/>
          </a:xfrm>
          <a:prstGeom prst="roundRect">
            <a:avLst>
              <a:gd name="adj" fmla="val 50000"/>
            </a:avLst>
          </a:prstGeom>
          <a:solidFill>
            <a:srgbClr val="EAB30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 name="TextBox 7">
            <a:extLst>
              <a:ext uri="{FF2B5EF4-FFF2-40B4-BE49-F238E27FC236}">
                <a16:creationId xmlns:a16="http://schemas.microsoft.com/office/drawing/2014/main" id="{29753360-0689-2939-FD41-033D1FA7D720}"/>
              </a:ext>
            </a:extLst>
          </p:cNvPr>
          <p:cNvSpPr txBox="1"/>
          <p:nvPr/>
        </p:nvSpPr>
        <p:spPr>
          <a:xfrm>
            <a:off x="525866" y="1455174"/>
            <a:ext cx="6051915" cy="4197559"/>
          </a:xfrm>
          <a:prstGeom prst="rect">
            <a:avLst/>
          </a:prstGeom>
          <a:noFill/>
        </p:spPr>
        <p:txBody>
          <a:bodyPr wrap="square" rtlCol="0">
            <a:spAutoFit/>
          </a:bodyPr>
          <a:lstStyle/>
          <a:p>
            <a:pPr>
              <a:lnSpc>
                <a:spcPct val="150000"/>
              </a:lnSpc>
              <a:buNone/>
            </a:pPr>
            <a:r>
              <a:rPr lang="en-US" sz="1800" b="1" dirty="0">
                <a:solidFill>
                  <a:schemeClr val="tx1">
                    <a:lumMod val="50000"/>
                    <a:lumOff val="50000"/>
                  </a:schemeClr>
                </a:solidFill>
                <a:latin typeface="Times New Roman" panose="02020603050405020304" pitchFamily="18" charset="0"/>
                <a:ea typeface="Arial Unicode MS" pitchFamily="34" charset="-128"/>
                <a:cs typeface="Times New Roman" panose="02020603050405020304" pitchFamily="18" charset="0"/>
              </a:rPr>
              <a:t>Lost/Found Item Submission Module</a:t>
            </a:r>
          </a:p>
          <a:p>
            <a:pPr>
              <a:lnSpc>
                <a:spcPct val="150000"/>
              </a:lnSpc>
              <a:buNone/>
            </a:pPr>
            <a:r>
              <a:rPr lang="en-US" sz="1800" dirty="0">
                <a:solidFill>
                  <a:schemeClr val="tx1">
                    <a:lumMod val="50000"/>
                    <a:lumOff val="50000"/>
                  </a:schemeClr>
                </a:solidFill>
                <a:latin typeface="Times New Roman" panose="02020603050405020304" pitchFamily="18" charset="0"/>
                <a:ea typeface="Arial Unicode MS" pitchFamily="34" charset="-128"/>
                <a:cs typeface="Times New Roman" panose="02020603050405020304" pitchFamily="18" charset="0"/>
              </a:rPr>
              <a:t>This module enables users to easily report a lost or found item through a clean and user-friendly interface.</a:t>
            </a:r>
          </a:p>
          <a:p>
            <a:pPr>
              <a:lnSpc>
                <a:spcPct val="150000"/>
              </a:lnSpc>
              <a:buNone/>
            </a:pPr>
            <a:endParaRPr lang="en-US" sz="1800" dirty="0">
              <a:solidFill>
                <a:schemeClr val="tx1">
                  <a:lumMod val="50000"/>
                  <a:lumOff val="50000"/>
                </a:schemeClr>
              </a:solidFill>
              <a:latin typeface="Times New Roman" panose="02020603050405020304" pitchFamily="18" charset="0"/>
              <a:ea typeface="Arial Unicode MS" pitchFamily="34" charset="-128"/>
              <a:cs typeface="Times New Roman" panose="02020603050405020304" pitchFamily="18" charset="0"/>
            </a:endParaRPr>
          </a:p>
          <a:p>
            <a:pPr>
              <a:lnSpc>
                <a:spcPct val="150000"/>
              </a:lnSpc>
              <a:buNone/>
            </a:pPr>
            <a:r>
              <a:rPr lang="en-US" sz="1800" b="1" dirty="0">
                <a:solidFill>
                  <a:schemeClr val="tx1">
                    <a:lumMod val="50000"/>
                    <a:lumOff val="50000"/>
                  </a:schemeClr>
                </a:solidFill>
                <a:latin typeface="Times New Roman" panose="02020603050405020304" pitchFamily="18" charset="0"/>
                <a:ea typeface="Arial Unicode MS" pitchFamily="34" charset="-128"/>
                <a:cs typeface="Times New Roman" panose="02020603050405020304" pitchFamily="18" charset="0"/>
              </a:rPr>
              <a:t>Key Features of the Form</a:t>
            </a:r>
          </a:p>
          <a:p>
            <a:pPr>
              <a:lnSpc>
                <a:spcPct val="150000"/>
              </a:lnSpc>
              <a:buNone/>
            </a:pPr>
            <a:r>
              <a:rPr lang="en-US" sz="1800" dirty="0">
                <a:solidFill>
                  <a:schemeClr val="tx1">
                    <a:lumMod val="50000"/>
                    <a:lumOff val="50000"/>
                  </a:schemeClr>
                </a:solidFill>
                <a:latin typeface="Times New Roman" panose="02020603050405020304" pitchFamily="18" charset="0"/>
                <a:ea typeface="Arial Unicode MS" pitchFamily="34" charset="-128"/>
                <a:cs typeface="Times New Roman" panose="02020603050405020304" pitchFamily="18" charset="0"/>
              </a:rPr>
              <a:t>✔ </a:t>
            </a:r>
            <a:r>
              <a:rPr lang="en-US" sz="1800" b="1" dirty="0">
                <a:solidFill>
                  <a:schemeClr val="tx1">
                    <a:lumMod val="50000"/>
                    <a:lumOff val="50000"/>
                  </a:schemeClr>
                </a:solidFill>
                <a:latin typeface="Times New Roman" panose="02020603050405020304" pitchFamily="18" charset="0"/>
                <a:ea typeface="Arial Unicode MS" pitchFamily="34" charset="-128"/>
                <a:cs typeface="Times New Roman" panose="02020603050405020304" pitchFamily="18" charset="0"/>
              </a:rPr>
              <a:t>Item Title:</a:t>
            </a:r>
            <a:br>
              <a:rPr lang="en-US" sz="1800" b="1" dirty="0">
                <a:solidFill>
                  <a:schemeClr val="tx1">
                    <a:lumMod val="50000"/>
                    <a:lumOff val="50000"/>
                  </a:schemeClr>
                </a:solidFill>
                <a:latin typeface="Times New Roman" panose="02020603050405020304" pitchFamily="18" charset="0"/>
                <a:ea typeface="Arial Unicode MS" pitchFamily="34" charset="-128"/>
                <a:cs typeface="Times New Roman" panose="02020603050405020304" pitchFamily="18" charset="0"/>
              </a:rPr>
            </a:br>
            <a:r>
              <a:rPr lang="en-US" sz="1800" dirty="0">
                <a:solidFill>
                  <a:schemeClr val="tx1">
                    <a:lumMod val="50000"/>
                    <a:lumOff val="50000"/>
                  </a:schemeClr>
                </a:solidFill>
                <a:latin typeface="Times New Roman" panose="02020603050405020304" pitchFamily="18" charset="0"/>
                <a:ea typeface="Arial Unicode MS" pitchFamily="34" charset="-128"/>
                <a:cs typeface="Times New Roman" panose="02020603050405020304" pitchFamily="18" charset="0"/>
              </a:rPr>
              <a:t>Users enter a clear and concise title for the lost/found item.</a:t>
            </a:r>
          </a:p>
          <a:p>
            <a:pPr>
              <a:lnSpc>
                <a:spcPct val="150000"/>
              </a:lnSpc>
              <a:buNone/>
            </a:pPr>
            <a:r>
              <a:rPr lang="en-US" sz="1800" dirty="0">
                <a:solidFill>
                  <a:schemeClr val="tx1">
                    <a:lumMod val="50000"/>
                    <a:lumOff val="50000"/>
                  </a:schemeClr>
                </a:solidFill>
                <a:latin typeface="Times New Roman" panose="02020603050405020304" pitchFamily="18" charset="0"/>
                <a:ea typeface="Arial Unicode MS" pitchFamily="34" charset="-128"/>
                <a:cs typeface="Times New Roman" panose="02020603050405020304" pitchFamily="18" charset="0"/>
              </a:rPr>
              <a:t>✔ </a:t>
            </a:r>
            <a:r>
              <a:rPr lang="en-US" sz="1800" b="1" dirty="0">
                <a:solidFill>
                  <a:schemeClr val="tx1">
                    <a:lumMod val="50000"/>
                    <a:lumOff val="50000"/>
                  </a:schemeClr>
                </a:solidFill>
                <a:latin typeface="Times New Roman" panose="02020603050405020304" pitchFamily="18" charset="0"/>
                <a:ea typeface="Arial Unicode MS" pitchFamily="34" charset="-128"/>
                <a:cs typeface="Times New Roman" panose="02020603050405020304" pitchFamily="18" charset="0"/>
              </a:rPr>
              <a:t>Description Field:</a:t>
            </a:r>
            <a:br>
              <a:rPr lang="en-US" sz="1800" b="1" dirty="0">
                <a:solidFill>
                  <a:schemeClr val="tx1">
                    <a:lumMod val="50000"/>
                    <a:lumOff val="50000"/>
                  </a:schemeClr>
                </a:solidFill>
                <a:latin typeface="Times New Roman" panose="02020603050405020304" pitchFamily="18" charset="0"/>
                <a:ea typeface="Arial Unicode MS" pitchFamily="34" charset="-128"/>
                <a:cs typeface="Times New Roman" panose="02020603050405020304" pitchFamily="18" charset="0"/>
              </a:rPr>
            </a:br>
            <a:r>
              <a:rPr lang="en-US" sz="1800" dirty="0">
                <a:solidFill>
                  <a:schemeClr val="tx1">
                    <a:lumMod val="50000"/>
                    <a:lumOff val="50000"/>
                  </a:schemeClr>
                </a:solidFill>
                <a:latin typeface="Times New Roman" panose="02020603050405020304" pitchFamily="18" charset="0"/>
                <a:ea typeface="Arial Unicode MS" pitchFamily="34" charset="-128"/>
                <a:cs typeface="Times New Roman" panose="02020603050405020304" pitchFamily="18" charset="0"/>
              </a:rPr>
              <a:t>Allows detailed explanation of the item including color, brand, and special identifiers.</a:t>
            </a:r>
          </a:p>
        </p:txBody>
      </p:sp>
      <p:pic>
        <p:nvPicPr>
          <p:cNvPr id="3" name="Picture 2">
            <a:extLst>
              <a:ext uri="{FF2B5EF4-FFF2-40B4-BE49-F238E27FC236}">
                <a16:creationId xmlns:a16="http://schemas.microsoft.com/office/drawing/2014/main" id="{908465FC-B2B1-D2B5-00BC-119CAE7D79F7}"/>
              </a:ext>
            </a:extLst>
          </p:cNvPr>
          <p:cNvPicPr>
            <a:picLocks noChangeAspect="1"/>
          </p:cNvPicPr>
          <p:nvPr/>
        </p:nvPicPr>
        <p:blipFill>
          <a:blip r:embed="rId4"/>
          <a:stretch>
            <a:fillRect/>
          </a:stretch>
        </p:blipFill>
        <p:spPr>
          <a:xfrm>
            <a:off x="6469627" y="1373074"/>
            <a:ext cx="5102942" cy="475586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oogle Shape;225;p22" descr="image.png">
            <a:extLst>
              <a:ext uri="{FF2B5EF4-FFF2-40B4-BE49-F238E27FC236}">
                <a16:creationId xmlns:a16="http://schemas.microsoft.com/office/drawing/2014/main" id="{CF3A5E78-7C24-4144-F18E-1F75BA06202C}"/>
              </a:ext>
            </a:extLst>
          </p:cNvPr>
          <p:cNvPicPr preferRelativeResize="0"/>
          <p:nvPr/>
        </p:nvPicPr>
        <p:blipFill rotWithShape="1">
          <a:blip r:embed="rId2">
            <a:alphaModFix/>
          </a:blip>
          <a:srcRect/>
          <a:stretch/>
        </p:blipFill>
        <p:spPr>
          <a:xfrm>
            <a:off x="0" y="6778113"/>
            <a:ext cx="12192000" cy="114300"/>
          </a:xfrm>
          <a:prstGeom prst="rect">
            <a:avLst/>
          </a:prstGeom>
          <a:noFill/>
          <a:ln>
            <a:noFill/>
          </a:ln>
        </p:spPr>
      </p:pic>
      <p:sp>
        <p:nvSpPr>
          <p:cNvPr id="5" name="TextBox 4">
            <a:extLst>
              <a:ext uri="{FF2B5EF4-FFF2-40B4-BE49-F238E27FC236}">
                <a16:creationId xmlns:a16="http://schemas.microsoft.com/office/drawing/2014/main" id="{5A2384FC-5741-141E-EAA3-A0F59E3D33A9}"/>
              </a:ext>
            </a:extLst>
          </p:cNvPr>
          <p:cNvSpPr txBox="1"/>
          <p:nvPr/>
        </p:nvSpPr>
        <p:spPr>
          <a:xfrm>
            <a:off x="383459" y="1215388"/>
            <a:ext cx="6567948" cy="5598296"/>
          </a:xfrm>
          <a:prstGeom prst="rect">
            <a:avLst/>
          </a:prstGeom>
          <a:noFill/>
        </p:spPr>
        <p:txBody>
          <a:bodyPr wrap="square" rtlCol="0">
            <a:spAutoFit/>
          </a:bodyPr>
          <a:lstStyle/>
          <a:p>
            <a:pPr>
              <a:lnSpc>
                <a:spcPct val="150000"/>
              </a:lnSpc>
              <a:buNone/>
            </a:pPr>
            <a:r>
              <a:rPr lang="en-US" sz="1800" dirty="0">
                <a:solidFill>
                  <a:schemeClr val="tx1">
                    <a:lumMod val="50000"/>
                    <a:lumOff val="50000"/>
                  </a:schemeClr>
                </a:solidFill>
                <a:latin typeface="Times New Roman" panose="02020603050405020304" pitchFamily="18" charset="0"/>
                <a:ea typeface="Arial Unicode MS" pitchFamily="34" charset="-128"/>
                <a:cs typeface="Times New Roman" panose="02020603050405020304" pitchFamily="18" charset="0"/>
              </a:rPr>
              <a:t>✔ </a:t>
            </a:r>
            <a:r>
              <a:rPr lang="en-US" sz="1800" b="1" dirty="0">
                <a:solidFill>
                  <a:schemeClr val="tx1">
                    <a:lumMod val="50000"/>
                    <a:lumOff val="50000"/>
                  </a:schemeClr>
                </a:solidFill>
                <a:latin typeface="Times New Roman" panose="02020603050405020304" pitchFamily="18" charset="0"/>
                <a:ea typeface="Arial Unicode MS" pitchFamily="34" charset="-128"/>
                <a:cs typeface="Times New Roman" panose="02020603050405020304" pitchFamily="18" charset="0"/>
              </a:rPr>
              <a:t>Date Picker:</a:t>
            </a:r>
            <a:br>
              <a:rPr lang="en-US" sz="1800" b="1" dirty="0">
                <a:solidFill>
                  <a:schemeClr val="tx1">
                    <a:lumMod val="50000"/>
                    <a:lumOff val="50000"/>
                  </a:schemeClr>
                </a:solidFill>
                <a:latin typeface="Times New Roman" panose="02020603050405020304" pitchFamily="18" charset="0"/>
                <a:ea typeface="Arial Unicode MS" pitchFamily="34" charset="-128"/>
                <a:cs typeface="Times New Roman" panose="02020603050405020304" pitchFamily="18" charset="0"/>
              </a:rPr>
            </a:br>
            <a:r>
              <a:rPr lang="en-US" sz="1800" dirty="0">
                <a:solidFill>
                  <a:schemeClr val="tx1">
                    <a:lumMod val="50000"/>
                    <a:lumOff val="50000"/>
                  </a:schemeClr>
                </a:solidFill>
                <a:latin typeface="Times New Roman" panose="02020603050405020304" pitchFamily="18" charset="0"/>
                <a:ea typeface="Arial Unicode MS" pitchFamily="34" charset="-128"/>
                <a:cs typeface="Times New Roman" panose="02020603050405020304" pitchFamily="18" charset="0"/>
              </a:rPr>
              <a:t>A built-in date selector ensures accurate tracking of when the item was lost or found.</a:t>
            </a:r>
          </a:p>
          <a:p>
            <a:pPr>
              <a:lnSpc>
                <a:spcPct val="150000"/>
              </a:lnSpc>
              <a:buNone/>
            </a:pPr>
            <a:r>
              <a:rPr lang="en-US" sz="1800" dirty="0">
                <a:solidFill>
                  <a:schemeClr val="tx1">
                    <a:lumMod val="50000"/>
                    <a:lumOff val="50000"/>
                  </a:schemeClr>
                </a:solidFill>
                <a:latin typeface="Times New Roman" panose="02020603050405020304" pitchFamily="18" charset="0"/>
                <a:ea typeface="Arial Unicode MS" pitchFamily="34" charset="-128"/>
                <a:cs typeface="Times New Roman" panose="02020603050405020304" pitchFamily="18" charset="0"/>
              </a:rPr>
              <a:t>✔ </a:t>
            </a:r>
            <a:r>
              <a:rPr lang="en-US" sz="1800" b="1" dirty="0">
                <a:solidFill>
                  <a:schemeClr val="tx1">
                    <a:lumMod val="50000"/>
                    <a:lumOff val="50000"/>
                  </a:schemeClr>
                </a:solidFill>
                <a:latin typeface="Times New Roman" panose="02020603050405020304" pitchFamily="18" charset="0"/>
                <a:ea typeface="Arial Unicode MS" pitchFamily="34" charset="-128"/>
                <a:cs typeface="Times New Roman" panose="02020603050405020304" pitchFamily="18" charset="0"/>
              </a:rPr>
              <a:t>Location Input:</a:t>
            </a:r>
            <a:br>
              <a:rPr lang="en-US" sz="1800" b="1" dirty="0">
                <a:solidFill>
                  <a:schemeClr val="tx1">
                    <a:lumMod val="50000"/>
                    <a:lumOff val="50000"/>
                  </a:schemeClr>
                </a:solidFill>
                <a:latin typeface="Times New Roman" panose="02020603050405020304" pitchFamily="18" charset="0"/>
                <a:ea typeface="Arial Unicode MS" pitchFamily="34" charset="-128"/>
                <a:cs typeface="Times New Roman" panose="02020603050405020304" pitchFamily="18" charset="0"/>
              </a:rPr>
            </a:br>
            <a:r>
              <a:rPr lang="en-US" sz="1800" dirty="0">
                <a:solidFill>
                  <a:schemeClr val="tx1">
                    <a:lumMod val="50000"/>
                    <a:lumOff val="50000"/>
                  </a:schemeClr>
                </a:solidFill>
                <a:latin typeface="Times New Roman" panose="02020603050405020304" pitchFamily="18" charset="0"/>
                <a:ea typeface="Arial Unicode MS" pitchFamily="34" charset="-128"/>
                <a:cs typeface="Times New Roman" panose="02020603050405020304" pitchFamily="18" charset="0"/>
              </a:rPr>
              <a:t>Users specify the exact place on campus where the item was lost/found.</a:t>
            </a:r>
          </a:p>
          <a:p>
            <a:pPr>
              <a:lnSpc>
                <a:spcPct val="150000"/>
              </a:lnSpc>
              <a:buNone/>
            </a:pPr>
            <a:r>
              <a:rPr lang="en-US" sz="1800" dirty="0">
                <a:solidFill>
                  <a:schemeClr val="tx1">
                    <a:lumMod val="50000"/>
                    <a:lumOff val="50000"/>
                  </a:schemeClr>
                </a:solidFill>
                <a:latin typeface="Times New Roman" panose="02020603050405020304" pitchFamily="18" charset="0"/>
                <a:ea typeface="Arial Unicode MS" pitchFamily="34" charset="-128"/>
                <a:cs typeface="Times New Roman" panose="02020603050405020304" pitchFamily="18" charset="0"/>
              </a:rPr>
              <a:t>✔ </a:t>
            </a:r>
            <a:r>
              <a:rPr lang="en-US" sz="1800" b="1" dirty="0">
                <a:solidFill>
                  <a:schemeClr val="tx1">
                    <a:lumMod val="50000"/>
                    <a:lumOff val="50000"/>
                  </a:schemeClr>
                </a:solidFill>
                <a:latin typeface="Times New Roman" panose="02020603050405020304" pitchFamily="18" charset="0"/>
                <a:ea typeface="Arial Unicode MS" pitchFamily="34" charset="-128"/>
                <a:cs typeface="Times New Roman" panose="02020603050405020304" pitchFamily="18" charset="0"/>
              </a:rPr>
              <a:t>Status Dropdown (Lost/Found):</a:t>
            </a:r>
            <a:br>
              <a:rPr lang="en-US" sz="1800" b="1" dirty="0">
                <a:solidFill>
                  <a:schemeClr val="tx1">
                    <a:lumMod val="50000"/>
                    <a:lumOff val="50000"/>
                  </a:schemeClr>
                </a:solidFill>
                <a:latin typeface="Times New Roman" panose="02020603050405020304" pitchFamily="18" charset="0"/>
                <a:ea typeface="Arial Unicode MS" pitchFamily="34" charset="-128"/>
                <a:cs typeface="Times New Roman" panose="02020603050405020304" pitchFamily="18" charset="0"/>
              </a:rPr>
            </a:br>
            <a:r>
              <a:rPr lang="en-US" sz="1800" dirty="0">
                <a:solidFill>
                  <a:schemeClr val="tx1">
                    <a:lumMod val="50000"/>
                    <a:lumOff val="50000"/>
                  </a:schemeClr>
                </a:solidFill>
                <a:latin typeface="Times New Roman" panose="02020603050405020304" pitchFamily="18" charset="0"/>
                <a:ea typeface="Arial Unicode MS" pitchFamily="34" charset="-128"/>
                <a:cs typeface="Times New Roman" panose="02020603050405020304" pitchFamily="18" charset="0"/>
              </a:rPr>
              <a:t>Helps categorize the item for better searching and filtering.</a:t>
            </a:r>
          </a:p>
          <a:p>
            <a:pPr>
              <a:lnSpc>
                <a:spcPct val="150000"/>
              </a:lnSpc>
              <a:buNone/>
            </a:pPr>
            <a:r>
              <a:rPr lang="en-US" sz="1800" dirty="0">
                <a:solidFill>
                  <a:schemeClr val="tx1">
                    <a:lumMod val="50000"/>
                    <a:lumOff val="50000"/>
                  </a:schemeClr>
                </a:solidFill>
                <a:latin typeface="Times New Roman" panose="02020603050405020304" pitchFamily="18" charset="0"/>
                <a:ea typeface="Arial Unicode MS" pitchFamily="34" charset="-128"/>
                <a:cs typeface="Times New Roman" panose="02020603050405020304" pitchFamily="18" charset="0"/>
              </a:rPr>
              <a:t>✔ Image Upload:</a:t>
            </a:r>
            <a:br>
              <a:rPr lang="en-US" sz="1800" dirty="0">
                <a:solidFill>
                  <a:schemeClr val="tx1">
                    <a:lumMod val="50000"/>
                    <a:lumOff val="50000"/>
                  </a:schemeClr>
                </a:solidFill>
                <a:latin typeface="Times New Roman" panose="02020603050405020304" pitchFamily="18" charset="0"/>
                <a:ea typeface="Arial Unicode MS" pitchFamily="34" charset="-128"/>
                <a:cs typeface="Times New Roman" panose="02020603050405020304" pitchFamily="18" charset="0"/>
              </a:rPr>
            </a:br>
            <a:r>
              <a:rPr lang="en-US" sz="1800" dirty="0">
                <a:solidFill>
                  <a:schemeClr val="tx1">
                    <a:lumMod val="50000"/>
                    <a:lumOff val="50000"/>
                  </a:schemeClr>
                </a:solidFill>
                <a:latin typeface="Times New Roman" panose="02020603050405020304" pitchFamily="18" charset="0"/>
                <a:ea typeface="Arial Unicode MS" pitchFamily="34" charset="-128"/>
                <a:cs typeface="Times New Roman" panose="02020603050405020304" pitchFamily="18" charset="0"/>
              </a:rPr>
              <a:t>Users can upload an image to help identify the item more clearly.</a:t>
            </a:r>
          </a:p>
          <a:p>
            <a:pPr>
              <a:lnSpc>
                <a:spcPct val="150000"/>
              </a:lnSpc>
              <a:buNone/>
            </a:pPr>
            <a:r>
              <a:rPr lang="en-US" sz="1800" dirty="0">
                <a:solidFill>
                  <a:schemeClr val="tx1">
                    <a:lumMod val="50000"/>
                    <a:lumOff val="50000"/>
                  </a:schemeClr>
                </a:solidFill>
                <a:latin typeface="Times New Roman" panose="02020603050405020304" pitchFamily="18" charset="0"/>
                <a:ea typeface="Arial Unicode MS" pitchFamily="34" charset="-128"/>
                <a:cs typeface="Times New Roman" panose="02020603050405020304" pitchFamily="18" charset="0"/>
              </a:rPr>
              <a:t>✔ </a:t>
            </a:r>
            <a:r>
              <a:rPr lang="en-US" sz="1800" b="1" dirty="0">
                <a:solidFill>
                  <a:schemeClr val="tx1">
                    <a:lumMod val="50000"/>
                    <a:lumOff val="50000"/>
                  </a:schemeClr>
                </a:solidFill>
                <a:latin typeface="Times New Roman" panose="02020603050405020304" pitchFamily="18" charset="0"/>
                <a:ea typeface="Arial Unicode MS" pitchFamily="34" charset="-128"/>
                <a:cs typeface="Times New Roman" panose="02020603050405020304" pitchFamily="18" charset="0"/>
              </a:rPr>
              <a:t>Tags Field :</a:t>
            </a:r>
            <a:br>
              <a:rPr lang="en-US" sz="1800" b="1" dirty="0">
                <a:solidFill>
                  <a:schemeClr val="tx1">
                    <a:lumMod val="50000"/>
                    <a:lumOff val="50000"/>
                  </a:schemeClr>
                </a:solidFill>
                <a:latin typeface="Times New Roman" panose="02020603050405020304" pitchFamily="18" charset="0"/>
                <a:ea typeface="Arial Unicode MS" pitchFamily="34" charset="-128"/>
                <a:cs typeface="Times New Roman" panose="02020603050405020304" pitchFamily="18" charset="0"/>
              </a:rPr>
            </a:br>
            <a:r>
              <a:rPr lang="en-US" sz="1800" dirty="0">
                <a:solidFill>
                  <a:schemeClr val="tx1">
                    <a:lumMod val="50000"/>
                    <a:lumOff val="50000"/>
                  </a:schemeClr>
                </a:solidFill>
                <a:latin typeface="Times New Roman" panose="02020603050405020304" pitchFamily="18" charset="0"/>
                <a:ea typeface="Arial Unicode MS" pitchFamily="34" charset="-128"/>
                <a:cs typeface="Times New Roman" panose="02020603050405020304" pitchFamily="18" charset="0"/>
              </a:rPr>
              <a:t>Enables category-based tagging such as “electronics”, “books”, “clothing” for improved searchability</a:t>
            </a:r>
            <a:r>
              <a:rPr lang="en-US" dirty="0">
                <a:solidFill>
                  <a:schemeClr val="tx1">
                    <a:lumMod val="50000"/>
                    <a:lumOff val="50000"/>
                  </a:schemeClr>
                </a:solidFill>
                <a:latin typeface="Times New Roman" panose="02020603050405020304" pitchFamily="18" charset="0"/>
                <a:ea typeface="Arial Unicode MS" pitchFamily="34" charset="-128"/>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AEDAB3CF-AFBF-20A8-AAA0-F6DECF5882D7}"/>
              </a:ext>
            </a:extLst>
          </p:cNvPr>
          <p:cNvSpPr txBox="1"/>
          <p:nvPr/>
        </p:nvSpPr>
        <p:spPr>
          <a:xfrm>
            <a:off x="571500" y="569504"/>
            <a:ext cx="9752371"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600" b="1" i="0" u="none" strike="noStrike" kern="0" cap="none" spc="0" normalizeH="0" baseline="0" noProof="0" dirty="0">
                <a:ln>
                  <a:noFill/>
                </a:ln>
                <a:solidFill>
                  <a:srgbClr val="002060"/>
                </a:solidFill>
                <a:effectLst/>
                <a:uLnTx/>
                <a:uFillTx/>
                <a:latin typeface="Montserrat"/>
                <a:ea typeface="Montserrat"/>
                <a:cs typeface="Montserrat"/>
                <a:sym typeface="Montserrat"/>
              </a:rPr>
              <a:t>Lost &amp; Found </a:t>
            </a:r>
            <a:r>
              <a:rPr lang="en-US" sz="3600" b="1" dirty="0">
                <a:solidFill>
                  <a:srgbClr val="002060"/>
                </a:solidFill>
                <a:latin typeface="Montserrat"/>
                <a:ea typeface="Montserrat"/>
                <a:cs typeface="Montserrat"/>
                <a:sym typeface="Montserrat"/>
              </a:rPr>
              <a:t>Item </a:t>
            </a:r>
            <a:r>
              <a:rPr kumimoji="0" lang="en-US" sz="3600" b="1" i="0" u="none" strike="noStrike" kern="0" cap="none" spc="0" normalizeH="0" baseline="0" noProof="0" dirty="0">
                <a:ln>
                  <a:noFill/>
                </a:ln>
                <a:solidFill>
                  <a:srgbClr val="002060"/>
                </a:solidFill>
                <a:effectLst/>
                <a:uLnTx/>
                <a:uFillTx/>
                <a:latin typeface="Montserrat"/>
                <a:ea typeface="Montserrat"/>
                <a:cs typeface="Montserrat"/>
                <a:sym typeface="Montserrat"/>
              </a:rPr>
              <a:t>Submission Form</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3600" b="1" i="0" u="none" strike="noStrike" kern="0" cap="none" spc="0" normalizeH="0" baseline="0" noProof="0" dirty="0">
              <a:ln>
                <a:noFill/>
              </a:ln>
              <a:solidFill>
                <a:srgbClr val="004D99"/>
              </a:solidFill>
              <a:effectLst/>
              <a:uLnTx/>
              <a:uFillTx/>
              <a:latin typeface="Montserrat"/>
              <a:ea typeface="Montserrat"/>
              <a:cs typeface="Montserrat"/>
              <a:sym typeface="Montserrat"/>
            </a:endParaRPr>
          </a:p>
        </p:txBody>
      </p:sp>
      <p:sp>
        <p:nvSpPr>
          <p:cNvPr id="8" name="Google Shape;184;p19">
            <a:extLst>
              <a:ext uri="{FF2B5EF4-FFF2-40B4-BE49-F238E27FC236}">
                <a16:creationId xmlns:a16="http://schemas.microsoft.com/office/drawing/2014/main" id="{89E7787C-A9BF-3E89-089E-41D880C33820}"/>
              </a:ext>
            </a:extLst>
          </p:cNvPr>
          <p:cNvSpPr/>
          <p:nvPr/>
        </p:nvSpPr>
        <p:spPr>
          <a:xfrm>
            <a:off x="571500" y="1123950"/>
            <a:ext cx="11049000" cy="45719"/>
          </a:xfrm>
          <a:prstGeom prst="roundRect">
            <a:avLst>
              <a:gd name="adj" fmla="val 50000"/>
            </a:avLst>
          </a:prstGeom>
          <a:solidFill>
            <a:srgbClr val="EAB30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 name="Picture 1">
            <a:extLst>
              <a:ext uri="{FF2B5EF4-FFF2-40B4-BE49-F238E27FC236}">
                <a16:creationId xmlns:a16="http://schemas.microsoft.com/office/drawing/2014/main" id="{518B0F3C-D9B9-3559-2CF4-9AC76389FE38}"/>
              </a:ext>
            </a:extLst>
          </p:cNvPr>
          <p:cNvPicPr>
            <a:picLocks noChangeAspect="1"/>
          </p:cNvPicPr>
          <p:nvPr/>
        </p:nvPicPr>
        <p:blipFill>
          <a:blip r:embed="rId3"/>
          <a:stretch>
            <a:fillRect/>
          </a:stretch>
        </p:blipFill>
        <p:spPr>
          <a:xfrm>
            <a:off x="6626942" y="1363242"/>
            <a:ext cx="5181600" cy="5008061"/>
          </a:xfrm>
          <a:prstGeom prst="rect">
            <a:avLst/>
          </a:prstGeom>
        </p:spPr>
      </p:pic>
    </p:spTree>
    <p:extLst>
      <p:ext uri="{BB962C8B-B14F-4D97-AF65-F5344CB8AC3E}">
        <p14:creationId xmlns:p14="http://schemas.microsoft.com/office/powerpoint/2010/main" val="30646460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225;p22" descr="image.png">
            <a:extLst>
              <a:ext uri="{FF2B5EF4-FFF2-40B4-BE49-F238E27FC236}">
                <a16:creationId xmlns:a16="http://schemas.microsoft.com/office/drawing/2014/main" id="{30E8FBFD-593C-55DD-FF0A-C47AAD62C70E}"/>
              </a:ext>
            </a:extLst>
          </p:cNvPr>
          <p:cNvPicPr preferRelativeResize="0"/>
          <p:nvPr/>
        </p:nvPicPr>
        <p:blipFill rotWithShape="1">
          <a:blip r:embed="rId2">
            <a:alphaModFix/>
          </a:blip>
          <a:srcRect/>
          <a:stretch/>
        </p:blipFill>
        <p:spPr>
          <a:xfrm>
            <a:off x="0" y="6778113"/>
            <a:ext cx="12192000" cy="114300"/>
          </a:xfrm>
          <a:prstGeom prst="rect">
            <a:avLst/>
          </a:prstGeom>
          <a:noFill/>
          <a:ln>
            <a:noFill/>
          </a:ln>
        </p:spPr>
      </p:pic>
      <p:sp>
        <p:nvSpPr>
          <p:cNvPr id="3" name="TextBox 2">
            <a:extLst>
              <a:ext uri="{FF2B5EF4-FFF2-40B4-BE49-F238E27FC236}">
                <a16:creationId xmlns:a16="http://schemas.microsoft.com/office/drawing/2014/main" id="{1271C129-A301-FBA1-1FF9-E1C115EF780D}"/>
              </a:ext>
            </a:extLst>
          </p:cNvPr>
          <p:cNvSpPr txBox="1"/>
          <p:nvPr/>
        </p:nvSpPr>
        <p:spPr>
          <a:xfrm>
            <a:off x="2487561" y="1769806"/>
            <a:ext cx="7030064" cy="2800767"/>
          </a:xfrm>
          <a:prstGeom prst="rect">
            <a:avLst/>
          </a:prstGeom>
          <a:noFill/>
        </p:spPr>
        <p:txBody>
          <a:bodyPr wrap="square" rtlCol="0">
            <a:spAutoFit/>
          </a:bodyPr>
          <a:lstStyle/>
          <a:p>
            <a:pPr algn="ctr"/>
            <a:r>
              <a:rPr lang="en-IN" sz="4400" dirty="0">
                <a:solidFill>
                  <a:schemeClr val="bg2"/>
                </a:solidFill>
                <a:latin typeface="Times New Roman" panose="02020603050405020304" pitchFamily="18" charset="0"/>
                <a:cs typeface="Times New Roman" panose="02020603050405020304" pitchFamily="18" charset="0"/>
              </a:rPr>
              <a:t>  MILESTONE – 3</a:t>
            </a:r>
          </a:p>
          <a:p>
            <a:pPr algn="ctr"/>
            <a:r>
              <a:rPr lang="en-IN" sz="4400" dirty="0">
                <a:solidFill>
                  <a:schemeClr val="bg2"/>
                </a:solidFill>
                <a:latin typeface="Times New Roman" panose="02020603050405020304" pitchFamily="18" charset="0"/>
                <a:cs typeface="Times New Roman" panose="02020603050405020304" pitchFamily="18" charset="0"/>
              </a:rPr>
              <a:t>Matching Algorithm </a:t>
            </a:r>
          </a:p>
          <a:p>
            <a:pPr algn="ctr"/>
            <a:r>
              <a:rPr lang="en-IN" sz="4400" dirty="0">
                <a:solidFill>
                  <a:schemeClr val="bg2"/>
                </a:solidFill>
                <a:latin typeface="Times New Roman" panose="02020603050405020304" pitchFamily="18" charset="0"/>
                <a:cs typeface="Times New Roman" panose="02020603050405020304" pitchFamily="18" charset="0"/>
              </a:rPr>
              <a:t>&amp;</a:t>
            </a:r>
          </a:p>
          <a:p>
            <a:pPr algn="ctr"/>
            <a:r>
              <a:rPr lang="en-IN" sz="4400" dirty="0">
                <a:solidFill>
                  <a:schemeClr val="bg2"/>
                </a:solidFill>
                <a:latin typeface="Times New Roman" panose="02020603050405020304" pitchFamily="18" charset="0"/>
                <a:cs typeface="Times New Roman" panose="02020603050405020304" pitchFamily="18" charset="0"/>
              </a:rPr>
              <a:t>   Location-Based Suggestions</a:t>
            </a:r>
          </a:p>
        </p:txBody>
      </p:sp>
    </p:spTree>
    <p:extLst>
      <p:ext uri="{BB962C8B-B14F-4D97-AF65-F5344CB8AC3E}">
        <p14:creationId xmlns:p14="http://schemas.microsoft.com/office/powerpoint/2010/main" val="14773141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24">
          <a:extLst>
            <a:ext uri="{FF2B5EF4-FFF2-40B4-BE49-F238E27FC236}">
              <a16:creationId xmlns:a16="http://schemas.microsoft.com/office/drawing/2014/main" id="{BAA628FC-51D6-FF96-84B4-6280B26F3A76}"/>
            </a:ext>
          </a:extLst>
        </p:cNvPr>
        <p:cNvGrpSpPr/>
        <p:nvPr/>
      </p:nvGrpSpPr>
      <p:grpSpPr>
        <a:xfrm>
          <a:off x="0" y="0"/>
          <a:ext cx="0" cy="0"/>
          <a:chOff x="0" y="0"/>
          <a:chExt cx="0" cy="0"/>
        </a:xfrm>
      </p:grpSpPr>
      <p:pic>
        <p:nvPicPr>
          <p:cNvPr id="225" name="Google Shape;225;p22" descr="image.png">
            <a:extLst>
              <a:ext uri="{FF2B5EF4-FFF2-40B4-BE49-F238E27FC236}">
                <a16:creationId xmlns:a16="http://schemas.microsoft.com/office/drawing/2014/main" id="{9C932187-8B03-88E0-4826-B9D2B75B1CA9}"/>
              </a:ext>
            </a:extLst>
          </p:cNvPr>
          <p:cNvPicPr preferRelativeResize="0"/>
          <p:nvPr/>
        </p:nvPicPr>
        <p:blipFill rotWithShape="1">
          <a:blip r:embed="rId3">
            <a:alphaModFix/>
          </a:blip>
          <a:srcRect/>
          <a:stretch/>
        </p:blipFill>
        <p:spPr>
          <a:xfrm>
            <a:off x="0" y="6778113"/>
            <a:ext cx="12192000" cy="114300"/>
          </a:xfrm>
          <a:prstGeom prst="rect">
            <a:avLst/>
          </a:prstGeom>
          <a:noFill/>
          <a:ln>
            <a:noFill/>
          </a:ln>
        </p:spPr>
      </p:pic>
      <p:sp>
        <p:nvSpPr>
          <p:cNvPr id="2" name="TextBox 1">
            <a:extLst>
              <a:ext uri="{FF2B5EF4-FFF2-40B4-BE49-F238E27FC236}">
                <a16:creationId xmlns:a16="http://schemas.microsoft.com/office/drawing/2014/main" id="{EA9E7DE5-C9FC-2380-55CF-751A4156EAD1}"/>
              </a:ext>
            </a:extLst>
          </p:cNvPr>
          <p:cNvSpPr txBox="1"/>
          <p:nvPr/>
        </p:nvSpPr>
        <p:spPr>
          <a:xfrm>
            <a:off x="525866" y="501445"/>
            <a:ext cx="9650521" cy="1200329"/>
          </a:xfrm>
          <a:prstGeom prst="rect">
            <a:avLst/>
          </a:prstGeom>
          <a:noFill/>
        </p:spPr>
        <p:txBody>
          <a:bodyPr wrap="square" rtlCol="0">
            <a:spAutoFit/>
          </a:bodyPr>
          <a:lstStyle/>
          <a:p>
            <a:r>
              <a:rPr lang="en-US" sz="3600" dirty="0">
                <a:solidFill>
                  <a:srgbClr val="002060"/>
                </a:solidFill>
                <a:latin typeface="Montserrat" panose="00000500000000000000" pitchFamily="2" charset="0"/>
              </a:rPr>
              <a:t> </a:t>
            </a:r>
            <a:r>
              <a:rPr kumimoji="0" lang="en-US" sz="3600" b="1" i="0" u="none" strike="noStrike" kern="0" cap="none" spc="0" normalizeH="0" baseline="0" noProof="0" dirty="0">
                <a:ln>
                  <a:noFill/>
                </a:ln>
                <a:solidFill>
                  <a:srgbClr val="002060"/>
                </a:solidFill>
                <a:effectLst/>
                <a:uLnTx/>
                <a:uFillTx/>
                <a:latin typeface="Montserrat"/>
                <a:ea typeface="Montserrat"/>
                <a:cs typeface="Montserrat"/>
                <a:sym typeface="Montserrat"/>
              </a:rPr>
              <a:t>Bri</a:t>
            </a:r>
            <a:r>
              <a:rPr kumimoji="0" lang="en-US" sz="3600" b="1" i="0" u="none" strike="noStrike" kern="0" cap="none" spc="0" normalizeH="0" baseline="0" noProof="0" dirty="0">
                <a:ln>
                  <a:noFill/>
                </a:ln>
                <a:solidFill>
                  <a:srgbClr val="002060"/>
                </a:solidFill>
                <a:effectLst/>
                <a:uLnTx/>
                <a:uFillTx/>
                <a:latin typeface="Montserrat" panose="00000500000000000000" pitchFamily="2" charset="0"/>
                <a:ea typeface="Montserrat"/>
                <a:cs typeface="Montserrat"/>
                <a:sym typeface="Montserrat"/>
              </a:rPr>
              <a:t>dging the Ga</a:t>
            </a:r>
            <a:r>
              <a:rPr lang="en-US" sz="3600" b="1" dirty="0">
                <a:solidFill>
                  <a:srgbClr val="002060"/>
                </a:solidFill>
                <a:latin typeface="Montserrat" panose="00000500000000000000" pitchFamily="2" charset="0"/>
                <a:ea typeface="Montserrat"/>
                <a:cs typeface="Montserrat"/>
                <a:sym typeface="Montserrat"/>
              </a:rPr>
              <a:t>p</a:t>
            </a:r>
            <a:br>
              <a:rPr lang="en-US" sz="3600" dirty="0">
                <a:solidFill>
                  <a:srgbClr val="002060"/>
                </a:solidFill>
                <a:latin typeface="Montserrat" panose="00000500000000000000" pitchFamily="2" charset="0"/>
              </a:rPr>
            </a:br>
            <a:endParaRPr lang="en-US" sz="3600" dirty="0">
              <a:solidFill>
                <a:srgbClr val="002060"/>
              </a:solidFill>
              <a:latin typeface="Montserrat" panose="00000500000000000000" pitchFamily="2" charset="0"/>
            </a:endParaRPr>
          </a:p>
        </p:txBody>
      </p:sp>
      <p:sp>
        <p:nvSpPr>
          <p:cNvPr id="4" name="Google Shape;168;p18">
            <a:extLst>
              <a:ext uri="{FF2B5EF4-FFF2-40B4-BE49-F238E27FC236}">
                <a16:creationId xmlns:a16="http://schemas.microsoft.com/office/drawing/2014/main" id="{333309AA-7F07-D64F-BCFC-F36948B41A12}"/>
              </a:ext>
            </a:extLst>
          </p:cNvPr>
          <p:cNvSpPr/>
          <p:nvPr/>
        </p:nvSpPr>
        <p:spPr>
          <a:xfrm>
            <a:off x="437376" y="1078336"/>
            <a:ext cx="10993034" cy="45719"/>
          </a:xfrm>
          <a:prstGeom prst="roundRect">
            <a:avLst>
              <a:gd name="adj" fmla="val 50000"/>
            </a:avLst>
          </a:prstGeom>
          <a:solidFill>
            <a:srgbClr val="EAB30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 name="TextBox 7">
            <a:extLst>
              <a:ext uri="{FF2B5EF4-FFF2-40B4-BE49-F238E27FC236}">
                <a16:creationId xmlns:a16="http://schemas.microsoft.com/office/drawing/2014/main" id="{7BAA0223-07D1-7D85-A88F-B48B912B18BD}"/>
              </a:ext>
            </a:extLst>
          </p:cNvPr>
          <p:cNvSpPr txBox="1"/>
          <p:nvPr/>
        </p:nvSpPr>
        <p:spPr>
          <a:xfrm>
            <a:off x="525866" y="1769792"/>
            <a:ext cx="10993034" cy="3903954"/>
          </a:xfrm>
          <a:prstGeom prst="rect">
            <a:avLst/>
          </a:prstGeom>
          <a:noFill/>
        </p:spPr>
        <p:txBody>
          <a:bodyPr wrap="square" rtlCol="0">
            <a:spAutoFit/>
          </a:bodyPr>
          <a:lstStyle/>
          <a:p>
            <a:endParaRPr lang="en-US" sz="2400" dirty="0"/>
          </a:p>
          <a:p>
            <a:r>
              <a:rPr lang="en-US" sz="2400" b="1" dirty="0"/>
              <a:t>The Problem: </a:t>
            </a:r>
            <a:r>
              <a:rPr lang="en-US" sz="2400" dirty="0"/>
              <a:t>Users having to scroll through hundreds of items to find their own.</a:t>
            </a:r>
          </a:p>
          <a:p>
            <a:endParaRPr lang="en-IN" sz="2400" dirty="0"/>
          </a:p>
          <a:p>
            <a:r>
              <a:rPr lang="en-US" sz="2400" b="1" dirty="0"/>
              <a:t>The Solution: </a:t>
            </a:r>
            <a:r>
              <a:rPr lang="en-US" sz="2400" dirty="0"/>
              <a:t>An Automated Intelligence Layer that connects Lost and Found reports in real-time.</a:t>
            </a:r>
          </a:p>
          <a:p>
            <a:endParaRPr lang="en-IN" sz="2400" dirty="0"/>
          </a:p>
          <a:p>
            <a:r>
              <a:rPr lang="en-US" sz="2400" b="1" dirty="0"/>
              <a:t>Key Achievement:</a:t>
            </a:r>
            <a:r>
              <a:rPr lang="en-US" sz="2400" dirty="0"/>
              <a:t> Developed a "Smart Match" system that suggests items to users based on similarity.</a:t>
            </a:r>
            <a:endParaRPr lang="en-IN" sz="2400" dirty="0"/>
          </a:p>
          <a:p>
            <a:pPr>
              <a:lnSpc>
                <a:spcPct val="150000"/>
              </a:lnSpc>
              <a:buNone/>
            </a:pPr>
            <a:endParaRPr lang="en-US" sz="2400" dirty="0">
              <a:solidFill>
                <a:schemeClr val="tx1">
                  <a:lumMod val="50000"/>
                  <a:lumOff val="50000"/>
                </a:schemeClr>
              </a:solidFill>
              <a:latin typeface="Times New Roman" panose="02020603050405020304" pitchFamily="18" charset="0"/>
              <a:ea typeface="Arial Unicode MS" pitchFamily="34" charset="-128"/>
              <a:cs typeface="Times New Roman" panose="02020603050405020304" pitchFamily="18" charset="0"/>
            </a:endParaRPr>
          </a:p>
        </p:txBody>
      </p:sp>
    </p:spTree>
    <p:extLst>
      <p:ext uri="{BB962C8B-B14F-4D97-AF65-F5344CB8AC3E}">
        <p14:creationId xmlns:p14="http://schemas.microsoft.com/office/powerpoint/2010/main" val="15915955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24">
          <a:extLst>
            <a:ext uri="{FF2B5EF4-FFF2-40B4-BE49-F238E27FC236}">
              <a16:creationId xmlns:a16="http://schemas.microsoft.com/office/drawing/2014/main" id="{C130EC77-7CD4-3AFD-250D-8383C26B9102}"/>
            </a:ext>
          </a:extLst>
        </p:cNvPr>
        <p:cNvGrpSpPr/>
        <p:nvPr/>
      </p:nvGrpSpPr>
      <p:grpSpPr>
        <a:xfrm>
          <a:off x="0" y="0"/>
          <a:ext cx="0" cy="0"/>
          <a:chOff x="0" y="0"/>
          <a:chExt cx="0" cy="0"/>
        </a:xfrm>
      </p:grpSpPr>
      <p:pic>
        <p:nvPicPr>
          <p:cNvPr id="225" name="Google Shape;225;p22" descr="image.png">
            <a:extLst>
              <a:ext uri="{FF2B5EF4-FFF2-40B4-BE49-F238E27FC236}">
                <a16:creationId xmlns:a16="http://schemas.microsoft.com/office/drawing/2014/main" id="{6DE7F696-8E33-38CF-DBF0-40D20646B5DC}"/>
              </a:ext>
            </a:extLst>
          </p:cNvPr>
          <p:cNvPicPr preferRelativeResize="0"/>
          <p:nvPr/>
        </p:nvPicPr>
        <p:blipFill rotWithShape="1">
          <a:blip r:embed="rId3">
            <a:alphaModFix/>
          </a:blip>
          <a:srcRect/>
          <a:stretch/>
        </p:blipFill>
        <p:spPr>
          <a:xfrm>
            <a:off x="0" y="6778113"/>
            <a:ext cx="12192000" cy="114300"/>
          </a:xfrm>
          <a:prstGeom prst="rect">
            <a:avLst/>
          </a:prstGeom>
          <a:noFill/>
          <a:ln>
            <a:noFill/>
          </a:ln>
        </p:spPr>
      </p:pic>
      <p:sp>
        <p:nvSpPr>
          <p:cNvPr id="2" name="TextBox 1">
            <a:extLst>
              <a:ext uri="{FF2B5EF4-FFF2-40B4-BE49-F238E27FC236}">
                <a16:creationId xmlns:a16="http://schemas.microsoft.com/office/drawing/2014/main" id="{EEAA9FE5-1D45-E352-3055-073EE7066562}"/>
              </a:ext>
            </a:extLst>
          </p:cNvPr>
          <p:cNvSpPr txBox="1"/>
          <p:nvPr/>
        </p:nvSpPr>
        <p:spPr>
          <a:xfrm>
            <a:off x="437376" y="350519"/>
            <a:ext cx="11518650" cy="1200329"/>
          </a:xfrm>
          <a:prstGeom prst="rect">
            <a:avLst/>
          </a:prstGeom>
          <a:noFill/>
        </p:spPr>
        <p:txBody>
          <a:bodyPr wrap="square" rtlCol="0">
            <a:spAutoFit/>
          </a:bodyPr>
          <a:lstStyle/>
          <a:p>
            <a:r>
              <a:rPr kumimoji="0" lang="en-US" sz="3600" b="1" i="0" u="none" strike="noStrike" kern="0" cap="none" spc="0" normalizeH="0" baseline="0" noProof="0" dirty="0">
                <a:ln>
                  <a:noFill/>
                </a:ln>
                <a:solidFill>
                  <a:srgbClr val="002060"/>
                </a:solidFill>
                <a:effectLst/>
                <a:uLnTx/>
                <a:uFillTx/>
                <a:latin typeface="Montserrat"/>
                <a:ea typeface="Montserrat"/>
                <a:cs typeface="Montserrat"/>
                <a:sym typeface="Montserrat"/>
              </a:rPr>
              <a:t>The Core “Intelligence”(Matching Algorithm)</a:t>
            </a:r>
            <a:br>
              <a:rPr lang="en-US" sz="3600" dirty="0">
                <a:solidFill>
                  <a:srgbClr val="002060"/>
                </a:solidFill>
              </a:rPr>
            </a:br>
            <a:endParaRPr lang="en-US" sz="3600" dirty="0">
              <a:solidFill>
                <a:srgbClr val="002060"/>
              </a:solidFill>
              <a:latin typeface="Montserrat" panose="00000500000000000000" pitchFamily="2" charset="0"/>
            </a:endParaRPr>
          </a:p>
        </p:txBody>
      </p:sp>
      <p:sp>
        <p:nvSpPr>
          <p:cNvPr id="4" name="Google Shape;168;p18">
            <a:extLst>
              <a:ext uri="{FF2B5EF4-FFF2-40B4-BE49-F238E27FC236}">
                <a16:creationId xmlns:a16="http://schemas.microsoft.com/office/drawing/2014/main" id="{970C1EFE-9831-85BA-ACFC-68D75BC36C9F}"/>
              </a:ext>
            </a:extLst>
          </p:cNvPr>
          <p:cNvSpPr/>
          <p:nvPr/>
        </p:nvSpPr>
        <p:spPr>
          <a:xfrm>
            <a:off x="437376" y="1078336"/>
            <a:ext cx="10993034" cy="45719"/>
          </a:xfrm>
          <a:prstGeom prst="roundRect">
            <a:avLst>
              <a:gd name="adj" fmla="val 50000"/>
            </a:avLst>
          </a:prstGeom>
          <a:solidFill>
            <a:srgbClr val="EAB30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 name="TextBox 7">
            <a:extLst>
              <a:ext uri="{FF2B5EF4-FFF2-40B4-BE49-F238E27FC236}">
                <a16:creationId xmlns:a16="http://schemas.microsoft.com/office/drawing/2014/main" id="{0A7366C0-3439-1143-5F5E-7640059ED1AE}"/>
              </a:ext>
            </a:extLst>
          </p:cNvPr>
          <p:cNvSpPr txBox="1"/>
          <p:nvPr/>
        </p:nvSpPr>
        <p:spPr>
          <a:xfrm>
            <a:off x="363795" y="1268361"/>
            <a:ext cx="6125496" cy="5632311"/>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Fuzzy Logic Engine: </a:t>
            </a:r>
            <a:r>
              <a:rPr lang="en-IN" sz="2400" dirty="0">
                <a:latin typeface="Times New Roman" panose="02020603050405020304" pitchFamily="18" charset="0"/>
                <a:cs typeface="Times New Roman" panose="02020603050405020304" pitchFamily="18" charset="0"/>
              </a:rPr>
              <a:t>Uses Levenshtein Distance to calculate string similarity between titles.</a:t>
            </a:r>
          </a:p>
          <a:p>
            <a:endParaRPr lang="en-IN" sz="2400"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Weighted Criteria:</a:t>
            </a:r>
          </a:p>
          <a:p>
            <a:r>
              <a:rPr lang="en-IN" sz="2400" dirty="0">
                <a:latin typeface="Times New Roman" panose="02020603050405020304" pitchFamily="18" charset="0"/>
                <a:cs typeface="Times New Roman" panose="02020603050405020304" pitchFamily="18" charset="0"/>
              </a:rPr>
              <a:t>Title Similarity ($60\%$): Handles typos (e.g., "Iphone" vs "i-phone")</a:t>
            </a:r>
          </a:p>
          <a:p>
            <a:endParaRPr lang="en-IN" sz="2400"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Contextual Match: </a:t>
            </a:r>
            <a:r>
              <a:rPr lang="en-IN" sz="2400" dirty="0">
                <a:latin typeface="Times New Roman" panose="02020603050405020304" pitchFamily="18" charset="0"/>
                <a:cs typeface="Times New Roman" panose="02020603050405020304" pitchFamily="18" charset="0"/>
              </a:rPr>
              <a:t>Cross-references Category and Campus Zone.</a:t>
            </a:r>
          </a:p>
          <a:p>
            <a:r>
              <a:rPr lang="en-IN" sz="2400" dirty="0">
                <a:latin typeface="Times New Roman" panose="02020603050405020304" pitchFamily="18" charset="0"/>
                <a:cs typeface="Times New Roman" panose="02020603050405020304" pitchFamily="18" charset="0"/>
              </a:rPr>
              <a:t>The Outcome: A "Potential Matches" section that appears automatically when a user attempts to claim an item.</a:t>
            </a:r>
          </a:p>
          <a:p>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8555F61E-2FFE-EAE2-15B2-0AB34D1283F5}"/>
              </a:ext>
            </a:extLst>
          </p:cNvPr>
          <p:cNvPicPr>
            <a:picLocks noChangeAspect="1"/>
          </p:cNvPicPr>
          <p:nvPr/>
        </p:nvPicPr>
        <p:blipFill>
          <a:blip r:embed="rId4"/>
          <a:stretch>
            <a:fillRect/>
          </a:stretch>
        </p:blipFill>
        <p:spPr>
          <a:xfrm>
            <a:off x="6410632" y="1268360"/>
            <a:ext cx="5417573" cy="5090529"/>
          </a:xfrm>
          <a:prstGeom prst="rect">
            <a:avLst/>
          </a:prstGeom>
        </p:spPr>
      </p:pic>
    </p:spTree>
    <p:extLst>
      <p:ext uri="{BB962C8B-B14F-4D97-AF65-F5344CB8AC3E}">
        <p14:creationId xmlns:p14="http://schemas.microsoft.com/office/powerpoint/2010/main" val="41983830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24">
          <a:extLst>
            <a:ext uri="{FF2B5EF4-FFF2-40B4-BE49-F238E27FC236}">
              <a16:creationId xmlns:a16="http://schemas.microsoft.com/office/drawing/2014/main" id="{D6AF96DB-E525-1DC7-B94E-41291957FF66}"/>
            </a:ext>
          </a:extLst>
        </p:cNvPr>
        <p:cNvGrpSpPr/>
        <p:nvPr/>
      </p:nvGrpSpPr>
      <p:grpSpPr>
        <a:xfrm>
          <a:off x="0" y="0"/>
          <a:ext cx="0" cy="0"/>
          <a:chOff x="0" y="0"/>
          <a:chExt cx="0" cy="0"/>
        </a:xfrm>
      </p:grpSpPr>
      <p:pic>
        <p:nvPicPr>
          <p:cNvPr id="225" name="Google Shape;225;p22" descr="image.png">
            <a:extLst>
              <a:ext uri="{FF2B5EF4-FFF2-40B4-BE49-F238E27FC236}">
                <a16:creationId xmlns:a16="http://schemas.microsoft.com/office/drawing/2014/main" id="{243A632F-08C8-F156-7460-F3F679E5FE57}"/>
              </a:ext>
            </a:extLst>
          </p:cNvPr>
          <p:cNvPicPr preferRelativeResize="0"/>
          <p:nvPr/>
        </p:nvPicPr>
        <p:blipFill rotWithShape="1">
          <a:blip r:embed="rId3">
            <a:alphaModFix/>
          </a:blip>
          <a:srcRect/>
          <a:stretch/>
        </p:blipFill>
        <p:spPr>
          <a:xfrm>
            <a:off x="0" y="6778113"/>
            <a:ext cx="12192000" cy="114300"/>
          </a:xfrm>
          <a:prstGeom prst="rect">
            <a:avLst/>
          </a:prstGeom>
          <a:noFill/>
          <a:ln>
            <a:noFill/>
          </a:ln>
        </p:spPr>
      </p:pic>
      <p:sp>
        <p:nvSpPr>
          <p:cNvPr id="2" name="TextBox 1">
            <a:extLst>
              <a:ext uri="{FF2B5EF4-FFF2-40B4-BE49-F238E27FC236}">
                <a16:creationId xmlns:a16="http://schemas.microsoft.com/office/drawing/2014/main" id="{8C139F20-3BAA-6BF1-8B14-6345D09047C9}"/>
              </a:ext>
            </a:extLst>
          </p:cNvPr>
          <p:cNvSpPr txBox="1"/>
          <p:nvPr/>
        </p:nvSpPr>
        <p:spPr>
          <a:xfrm>
            <a:off x="525866" y="501445"/>
            <a:ext cx="9650521" cy="1200329"/>
          </a:xfrm>
          <a:prstGeom prst="rect">
            <a:avLst/>
          </a:prstGeom>
          <a:noFill/>
        </p:spPr>
        <p:txBody>
          <a:bodyPr wrap="square" rtlCol="0">
            <a:spAutoFit/>
          </a:bodyPr>
          <a:lstStyle/>
          <a:p>
            <a:r>
              <a:rPr kumimoji="0" lang="en-US" sz="3600" b="1" i="0" u="none" strike="noStrike" kern="0" cap="none" spc="0" normalizeH="0" baseline="0" noProof="0" dirty="0">
                <a:ln>
                  <a:noFill/>
                </a:ln>
                <a:solidFill>
                  <a:srgbClr val="002060"/>
                </a:solidFill>
                <a:effectLst/>
                <a:uLnTx/>
                <a:uFillTx/>
                <a:latin typeface="Montserrat"/>
                <a:ea typeface="Montserrat"/>
                <a:cs typeface="Montserrat"/>
                <a:sym typeface="Montserrat"/>
              </a:rPr>
              <a:t>System </a:t>
            </a:r>
            <a:r>
              <a:rPr kumimoji="0" lang="en-IN" sz="3600" b="1" i="0" u="none" strike="noStrike" kern="0" cap="none" spc="0" normalizeH="0" baseline="0" noProof="0" dirty="0">
                <a:ln>
                  <a:noFill/>
                </a:ln>
                <a:solidFill>
                  <a:srgbClr val="002060"/>
                </a:solidFill>
                <a:effectLst/>
                <a:uLnTx/>
                <a:uFillTx/>
                <a:latin typeface="Montserrat"/>
                <a:ea typeface="Montserrat"/>
                <a:cs typeface="Montserrat"/>
                <a:sym typeface="Montserrat"/>
              </a:rPr>
              <a:t>Architecture &amp; API</a:t>
            </a:r>
            <a:br>
              <a:rPr lang="en-IN" sz="3600" dirty="0"/>
            </a:br>
            <a:endParaRPr lang="en-US" sz="3600" dirty="0">
              <a:solidFill>
                <a:srgbClr val="002060"/>
              </a:solidFill>
              <a:latin typeface="Montserrat" panose="00000500000000000000" pitchFamily="2" charset="0"/>
            </a:endParaRPr>
          </a:p>
        </p:txBody>
      </p:sp>
      <p:sp>
        <p:nvSpPr>
          <p:cNvPr id="4" name="Google Shape;168;p18">
            <a:extLst>
              <a:ext uri="{FF2B5EF4-FFF2-40B4-BE49-F238E27FC236}">
                <a16:creationId xmlns:a16="http://schemas.microsoft.com/office/drawing/2014/main" id="{886CD198-C9C1-2A2E-88A5-6532341D6605}"/>
              </a:ext>
            </a:extLst>
          </p:cNvPr>
          <p:cNvSpPr/>
          <p:nvPr/>
        </p:nvSpPr>
        <p:spPr>
          <a:xfrm>
            <a:off x="437376" y="1078336"/>
            <a:ext cx="10993034" cy="45719"/>
          </a:xfrm>
          <a:prstGeom prst="roundRect">
            <a:avLst>
              <a:gd name="adj" fmla="val 50000"/>
            </a:avLst>
          </a:prstGeom>
          <a:solidFill>
            <a:srgbClr val="EAB30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 name="TextBox 7">
            <a:extLst>
              <a:ext uri="{FF2B5EF4-FFF2-40B4-BE49-F238E27FC236}">
                <a16:creationId xmlns:a16="http://schemas.microsoft.com/office/drawing/2014/main" id="{9F114DC9-E080-05E2-6143-F90C9EBDA38E}"/>
              </a:ext>
            </a:extLst>
          </p:cNvPr>
          <p:cNvSpPr txBox="1"/>
          <p:nvPr/>
        </p:nvSpPr>
        <p:spPr>
          <a:xfrm>
            <a:off x="437376" y="2031021"/>
            <a:ext cx="10993034" cy="4893647"/>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RESTful Design: </a:t>
            </a:r>
            <a:r>
              <a:rPr lang="en-IN" sz="2400" dirty="0">
                <a:latin typeface="Times New Roman" panose="02020603050405020304" pitchFamily="18" charset="0"/>
                <a:cs typeface="Times New Roman" panose="02020603050405020304" pitchFamily="18" charset="0"/>
              </a:rPr>
              <a:t>Standardized API endpoints (/</a:t>
            </a:r>
            <a:r>
              <a:rPr lang="en-IN" sz="2400" dirty="0" err="1">
                <a:latin typeface="Times New Roman" panose="02020603050405020304" pitchFamily="18" charset="0"/>
                <a:cs typeface="Times New Roman" panose="02020603050405020304" pitchFamily="18" charset="0"/>
              </a:rPr>
              <a:t>api</a:t>
            </a:r>
            <a:r>
              <a:rPr lang="en-IN" sz="2400" dirty="0">
                <a:latin typeface="Times New Roman" panose="02020603050405020304" pitchFamily="18" charset="0"/>
                <a:cs typeface="Times New Roman" panose="02020603050405020304" pitchFamily="18" charset="0"/>
              </a:rPr>
              <a:t>/items, /</a:t>
            </a:r>
            <a:r>
              <a:rPr lang="en-IN" sz="2400" dirty="0" err="1">
                <a:latin typeface="Times New Roman" panose="02020603050405020304" pitchFamily="18" charset="0"/>
                <a:cs typeface="Times New Roman" panose="02020603050405020304" pitchFamily="18" charset="0"/>
              </a:rPr>
              <a:t>api</a:t>
            </a:r>
            <a:r>
              <a:rPr lang="en-IN" sz="2400" dirty="0">
                <a:latin typeface="Times New Roman" panose="02020603050405020304" pitchFamily="18" charset="0"/>
                <a:cs typeface="Times New Roman" panose="02020603050405020304" pitchFamily="18" charset="0"/>
              </a:rPr>
              <a:t>/claims) for clean communication.</a:t>
            </a:r>
          </a:p>
          <a:p>
            <a:endParaRPr lang="en-IN" sz="2400"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Live Data Sync: </a:t>
            </a:r>
            <a:r>
              <a:rPr lang="en-IN" sz="2400" dirty="0">
                <a:latin typeface="Times New Roman" panose="02020603050405020304" pitchFamily="18" charset="0"/>
                <a:cs typeface="Times New Roman" panose="02020603050405020304" pitchFamily="18" charset="0"/>
              </a:rPr>
              <a:t> GET Requests: Fetch real-time inventory updates.</a:t>
            </a:r>
          </a:p>
          <a:p>
            <a:endParaRPr lang="en-IN" sz="2400"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POST Requests: </a:t>
            </a:r>
            <a:r>
              <a:rPr lang="en-IN" sz="2400" dirty="0">
                <a:latin typeface="Times New Roman" panose="02020603050405020304" pitchFamily="18" charset="0"/>
                <a:cs typeface="Times New Roman" panose="02020603050405020304" pitchFamily="18" charset="0"/>
              </a:rPr>
              <a:t>Securely transmit ownership proof and claim data.</a:t>
            </a:r>
          </a:p>
          <a:p>
            <a:endParaRPr lang="en-IN" sz="2400"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State Management: </a:t>
            </a:r>
            <a:r>
              <a:rPr lang="en-IN" sz="2400" dirty="0">
                <a:latin typeface="Times New Roman" panose="02020603050405020304" pitchFamily="18" charset="0"/>
                <a:cs typeface="Times New Roman" panose="02020603050405020304" pitchFamily="18" charset="0"/>
              </a:rPr>
              <a:t>Utilizing localStorage to maintain user identity and roles without constant database logins.</a:t>
            </a:r>
          </a:p>
          <a:p>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570010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24">
          <a:extLst>
            <a:ext uri="{FF2B5EF4-FFF2-40B4-BE49-F238E27FC236}">
              <a16:creationId xmlns:a16="http://schemas.microsoft.com/office/drawing/2014/main" id="{51BE71EC-9A2F-E049-8E75-ED28C86BAF51}"/>
            </a:ext>
          </a:extLst>
        </p:cNvPr>
        <p:cNvGrpSpPr/>
        <p:nvPr/>
      </p:nvGrpSpPr>
      <p:grpSpPr>
        <a:xfrm>
          <a:off x="0" y="0"/>
          <a:ext cx="0" cy="0"/>
          <a:chOff x="0" y="0"/>
          <a:chExt cx="0" cy="0"/>
        </a:xfrm>
      </p:grpSpPr>
      <p:pic>
        <p:nvPicPr>
          <p:cNvPr id="225" name="Google Shape;225;p22" descr="image.png">
            <a:extLst>
              <a:ext uri="{FF2B5EF4-FFF2-40B4-BE49-F238E27FC236}">
                <a16:creationId xmlns:a16="http://schemas.microsoft.com/office/drawing/2014/main" id="{DE942E3F-C130-800E-1BBD-4739B598BFBD}"/>
              </a:ext>
            </a:extLst>
          </p:cNvPr>
          <p:cNvPicPr preferRelativeResize="0"/>
          <p:nvPr/>
        </p:nvPicPr>
        <p:blipFill rotWithShape="1">
          <a:blip r:embed="rId3">
            <a:alphaModFix/>
          </a:blip>
          <a:srcRect/>
          <a:stretch/>
        </p:blipFill>
        <p:spPr>
          <a:xfrm>
            <a:off x="0" y="6778113"/>
            <a:ext cx="12192000" cy="114300"/>
          </a:xfrm>
          <a:prstGeom prst="rect">
            <a:avLst/>
          </a:prstGeom>
          <a:noFill/>
          <a:ln>
            <a:noFill/>
          </a:ln>
        </p:spPr>
      </p:pic>
      <p:sp>
        <p:nvSpPr>
          <p:cNvPr id="2" name="TextBox 1">
            <a:extLst>
              <a:ext uri="{FF2B5EF4-FFF2-40B4-BE49-F238E27FC236}">
                <a16:creationId xmlns:a16="http://schemas.microsoft.com/office/drawing/2014/main" id="{810F5297-FBC1-C2ED-8156-5A127159FC2C}"/>
              </a:ext>
            </a:extLst>
          </p:cNvPr>
          <p:cNvSpPr txBox="1"/>
          <p:nvPr/>
        </p:nvSpPr>
        <p:spPr>
          <a:xfrm>
            <a:off x="525866" y="501445"/>
            <a:ext cx="9650521" cy="646331"/>
          </a:xfrm>
          <a:prstGeom prst="rect">
            <a:avLst/>
          </a:prstGeom>
          <a:noFill/>
        </p:spPr>
        <p:txBody>
          <a:bodyPr wrap="square" rtlCol="0">
            <a:spAutoFit/>
          </a:bodyPr>
          <a:lstStyle/>
          <a:p>
            <a:r>
              <a:rPr lang="en-IN" sz="3600" dirty="0">
                <a:solidFill>
                  <a:srgbClr val="002060"/>
                </a:solidFill>
              </a:rPr>
              <a:t>Enhanced Search &amp; UX Logic</a:t>
            </a:r>
            <a:endParaRPr lang="en-US" sz="3600" dirty="0">
              <a:solidFill>
                <a:srgbClr val="002060"/>
              </a:solidFill>
              <a:latin typeface="Montserrat" panose="00000500000000000000" pitchFamily="2" charset="0"/>
            </a:endParaRPr>
          </a:p>
        </p:txBody>
      </p:sp>
      <p:sp>
        <p:nvSpPr>
          <p:cNvPr id="4" name="Google Shape;168;p18">
            <a:extLst>
              <a:ext uri="{FF2B5EF4-FFF2-40B4-BE49-F238E27FC236}">
                <a16:creationId xmlns:a16="http://schemas.microsoft.com/office/drawing/2014/main" id="{BC9029AA-F12D-C37D-DAB7-18A10BFD60F0}"/>
              </a:ext>
            </a:extLst>
          </p:cNvPr>
          <p:cNvSpPr/>
          <p:nvPr/>
        </p:nvSpPr>
        <p:spPr>
          <a:xfrm>
            <a:off x="437376" y="1078336"/>
            <a:ext cx="10993034" cy="45719"/>
          </a:xfrm>
          <a:prstGeom prst="roundRect">
            <a:avLst>
              <a:gd name="adj" fmla="val 50000"/>
            </a:avLst>
          </a:prstGeom>
          <a:solidFill>
            <a:srgbClr val="EAB30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 name="TextBox 7">
            <a:extLst>
              <a:ext uri="{FF2B5EF4-FFF2-40B4-BE49-F238E27FC236}">
                <a16:creationId xmlns:a16="http://schemas.microsoft.com/office/drawing/2014/main" id="{E5A4CC0C-8A2E-9FC0-E34C-FDF6CC8B092B}"/>
              </a:ext>
            </a:extLst>
          </p:cNvPr>
          <p:cNvSpPr txBox="1"/>
          <p:nvPr/>
        </p:nvSpPr>
        <p:spPr>
          <a:xfrm>
            <a:off x="437376" y="2031021"/>
            <a:ext cx="10993034" cy="452431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Multi-Dimensional Filtering:  </a:t>
            </a:r>
            <a:r>
              <a:rPr lang="en-US" sz="2400" dirty="0">
                <a:latin typeface="Times New Roman" panose="02020603050405020304" pitchFamily="18" charset="0"/>
                <a:cs typeface="Times New Roman" panose="02020603050405020304" pitchFamily="18" charset="0"/>
              </a:rPr>
              <a:t>Temporal: Filter by "Date Recorded."</a:t>
            </a:r>
          </a:p>
          <a:p>
            <a:r>
              <a:rPr lang="en-US" sz="2400" dirty="0">
                <a:latin typeface="Times New Roman" panose="02020603050405020304" pitchFamily="18" charset="0"/>
                <a:cs typeface="Times New Roman" panose="02020603050405020304" pitchFamily="18" charset="0"/>
              </a:rPr>
              <a:t>Spatial: Filter by "Campus Zone.“</a:t>
            </a:r>
          </a:p>
          <a:p>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Categorical:</a:t>
            </a:r>
            <a:r>
              <a:rPr lang="en-US" sz="2400" dirty="0">
                <a:latin typeface="Times New Roman" panose="02020603050405020304" pitchFamily="18" charset="0"/>
                <a:cs typeface="Times New Roman" panose="02020603050405020304" pitchFamily="18" charset="0"/>
              </a:rPr>
              <a:t> Filter by "Item Type" (Electronics, Clothing, etc.).</a:t>
            </a:r>
          </a:p>
          <a:p>
            <a:r>
              <a:rPr lang="en-US" sz="2400" dirty="0">
                <a:latin typeface="Times New Roman" panose="02020603050405020304" pitchFamily="18" charset="0"/>
                <a:cs typeface="Times New Roman" panose="02020603050405020304" pitchFamily="18" charset="0"/>
              </a:rPr>
              <a:t>Visual Verification: Integrated Lightbox overlays so users can inspect item images in high resolution before claiming.</a:t>
            </a:r>
          </a:p>
          <a:p>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Robust Search: </a:t>
            </a:r>
            <a:r>
              <a:rPr lang="en-US" sz="2400" dirty="0">
                <a:latin typeface="Times New Roman" panose="02020603050405020304" pitchFamily="18" charset="0"/>
                <a:cs typeface="Times New Roman" panose="02020603050405020304" pitchFamily="18" charset="0"/>
              </a:rPr>
              <a:t>Case-insensitive, real-time keyword search that updates as the user types.</a:t>
            </a:r>
          </a:p>
          <a:p>
            <a:endParaRPr lang="en-US"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070480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24">
          <a:extLst>
            <a:ext uri="{FF2B5EF4-FFF2-40B4-BE49-F238E27FC236}">
              <a16:creationId xmlns:a16="http://schemas.microsoft.com/office/drawing/2014/main" id="{E1EEAF15-C368-D581-5F7A-18B88FA1B66E}"/>
            </a:ext>
          </a:extLst>
        </p:cNvPr>
        <p:cNvGrpSpPr/>
        <p:nvPr/>
      </p:nvGrpSpPr>
      <p:grpSpPr>
        <a:xfrm>
          <a:off x="0" y="0"/>
          <a:ext cx="0" cy="0"/>
          <a:chOff x="0" y="0"/>
          <a:chExt cx="0" cy="0"/>
        </a:xfrm>
      </p:grpSpPr>
      <p:pic>
        <p:nvPicPr>
          <p:cNvPr id="225" name="Google Shape;225;p22" descr="image.png">
            <a:extLst>
              <a:ext uri="{FF2B5EF4-FFF2-40B4-BE49-F238E27FC236}">
                <a16:creationId xmlns:a16="http://schemas.microsoft.com/office/drawing/2014/main" id="{5AE10CFB-40FF-89EE-8C12-8B7EADFB1FD0}"/>
              </a:ext>
            </a:extLst>
          </p:cNvPr>
          <p:cNvPicPr preferRelativeResize="0"/>
          <p:nvPr/>
        </p:nvPicPr>
        <p:blipFill rotWithShape="1">
          <a:blip r:embed="rId3">
            <a:alphaModFix/>
          </a:blip>
          <a:srcRect/>
          <a:stretch/>
        </p:blipFill>
        <p:spPr>
          <a:xfrm>
            <a:off x="0" y="6778113"/>
            <a:ext cx="12192000" cy="114300"/>
          </a:xfrm>
          <a:prstGeom prst="rect">
            <a:avLst/>
          </a:prstGeom>
          <a:noFill/>
          <a:ln>
            <a:noFill/>
          </a:ln>
        </p:spPr>
      </p:pic>
      <p:sp>
        <p:nvSpPr>
          <p:cNvPr id="2" name="TextBox 1">
            <a:extLst>
              <a:ext uri="{FF2B5EF4-FFF2-40B4-BE49-F238E27FC236}">
                <a16:creationId xmlns:a16="http://schemas.microsoft.com/office/drawing/2014/main" id="{F20E5279-52A8-BB7D-7370-F13A2B77FCF0}"/>
              </a:ext>
            </a:extLst>
          </p:cNvPr>
          <p:cNvSpPr txBox="1"/>
          <p:nvPr/>
        </p:nvSpPr>
        <p:spPr>
          <a:xfrm>
            <a:off x="525866" y="501445"/>
            <a:ext cx="9650521" cy="1200329"/>
          </a:xfrm>
          <a:prstGeom prst="rect">
            <a:avLst/>
          </a:prstGeom>
          <a:noFill/>
        </p:spPr>
        <p:txBody>
          <a:bodyPr wrap="square" rtlCol="0">
            <a:spAutoFit/>
          </a:bodyPr>
          <a:lstStyle/>
          <a:p>
            <a:r>
              <a:rPr kumimoji="0" lang="en-US" sz="3600" b="1" i="0" u="none" strike="noStrike" kern="0" cap="none" spc="0" normalizeH="0" baseline="0" noProof="0" dirty="0">
                <a:ln>
                  <a:noFill/>
                </a:ln>
                <a:solidFill>
                  <a:srgbClr val="002060"/>
                </a:solidFill>
                <a:effectLst/>
                <a:uLnTx/>
                <a:uFillTx/>
                <a:latin typeface="Montserrat"/>
                <a:ea typeface="Montserrat"/>
                <a:cs typeface="Montserrat"/>
                <a:sym typeface="Montserrat"/>
              </a:rPr>
              <a:t>Secure Claim Management Workflow</a:t>
            </a:r>
            <a:br>
              <a:rPr lang="en-IN" sz="3600" dirty="0"/>
            </a:br>
            <a:endParaRPr lang="en-US" sz="3600" dirty="0">
              <a:solidFill>
                <a:srgbClr val="002060"/>
              </a:solidFill>
              <a:latin typeface="Montserrat" panose="00000500000000000000" pitchFamily="2" charset="0"/>
            </a:endParaRPr>
          </a:p>
        </p:txBody>
      </p:sp>
      <p:sp>
        <p:nvSpPr>
          <p:cNvPr id="4" name="Google Shape;168;p18">
            <a:extLst>
              <a:ext uri="{FF2B5EF4-FFF2-40B4-BE49-F238E27FC236}">
                <a16:creationId xmlns:a16="http://schemas.microsoft.com/office/drawing/2014/main" id="{7D2F0A7B-84BF-C5F1-EDCB-D5DF20CB4135}"/>
              </a:ext>
            </a:extLst>
          </p:cNvPr>
          <p:cNvSpPr/>
          <p:nvPr/>
        </p:nvSpPr>
        <p:spPr>
          <a:xfrm>
            <a:off x="437376" y="1078336"/>
            <a:ext cx="10993034" cy="45719"/>
          </a:xfrm>
          <a:prstGeom prst="roundRect">
            <a:avLst>
              <a:gd name="adj" fmla="val 50000"/>
            </a:avLst>
          </a:prstGeom>
          <a:solidFill>
            <a:srgbClr val="EAB30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 name="TextBox 7">
            <a:extLst>
              <a:ext uri="{FF2B5EF4-FFF2-40B4-BE49-F238E27FC236}">
                <a16:creationId xmlns:a16="http://schemas.microsoft.com/office/drawing/2014/main" id="{AC7E1B45-728E-E26A-B397-4A5869062176}"/>
              </a:ext>
            </a:extLst>
          </p:cNvPr>
          <p:cNvSpPr txBox="1"/>
          <p:nvPr/>
        </p:nvSpPr>
        <p:spPr>
          <a:xfrm>
            <a:off x="717754" y="1887793"/>
            <a:ext cx="10402529" cy="4154984"/>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Ownership Verification:</a:t>
            </a:r>
            <a:r>
              <a:rPr lang="en-US" sz="2400" dirty="0">
                <a:latin typeface="Times New Roman" panose="02020603050405020304" pitchFamily="18" charset="0"/>
                <a:cs typeface="Times New Roman" panose="02020603050405020304" pitchFamily="18" charset="0"/>
              </a:rPr>
              <a:t> Mandatory "Proof of Ownership" text field for every claim.</a:t>
            </a:r>
          </a:p>
          <a:p>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User-Item Mapping:</a:t>
            </a:r>
            <a:r>
              <a:rPr lang="en-US" sz="2400" dirty="0">
                <a:latin typeface="Times New Roman" panose="02020603050405020304" pitchFamily="18" charset="0"/>
                <a:cs typeface="Times New Roman" panose="02020603050405020304" pitchFamily="18" charset="0"/>
              </a:rPr>
              <a:t> A many-to-one relationship in the database linking multiple claims to a single found item for Admin review.</a:t>
            </a:r>
          </a:p>
          <a:p>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Data Protection: </a:t>
            </a:r>
            <a:r>
              <a:rPr lang="en-US" sz="2400" dirty="0">
                <a:latin typeface="Times New Roman" panose="02020603050405020304" pitchFamily="18" charset="0"/>
                <a:cs typeface="Times New Roman" panose="02020603050405020304" pitchFamily="18" charset="0"/>
              </a:rPr>
              <a:t>Role-based access ensures users only see what they need, while Admins oversee the entire claim history.</a:t>
            </a:r>
          </a:p>
          <a:p>
            <a:endParaRPr lang="en-US"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988931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225;p22" descr="image.png">
            <a:extLst>
              <a:ext uri="{FF2B5EF4-FFF2-40B4-BE49-F238E27FC236}">
                <a16:creationId xmlns:a16="http://schemas.microsoft.com/office/drawing/2014/main" id="{D6CC7443-B324-231C-805D-3757707FEAC6}"/>
              </a:ext>
            </a:extLst>
          </p:cNvPr>
          <p:cNvPicPr preferRelativeResize="0"/>
          <p:nvPr/>
        </p:nvPicPr>
        <p:blipFill rotWithShape="1">
          <a:blip r:embed="rId2">
            <a:alphaModFix/>
          </a:blip>
          <a:srcRect/>
          <a:stretch/>
        </p:blipFill>
        <p:spPr>
          <a:xfrm>
            <a:off x="0" y="6778113"/>
            <a:ext cx="12192000" cy="114300"/>
          </a:xfrm>
          <a:prstGeom prst="rect">
            <a:avLst/>
          </a:prstGeom>
          <a:noFill/>
          <a:ln>
            <a:noFill/>
          </a:ln>
        </p:spPr>
      </p:pic>
      <p:sp>
        <p:nvSpPr>
          <p:cNvPr id="3" name="TextBox 2">
            <a:extLst>
              <a:ext uri="{FF2B5EF4-FFF2-40B4-BE49-F238E27FC236}">
                <a16:creationId xmlns:a16="http://schemas.microsoft.com/office/drawing/2014/main" id="{FEB51271-A62F-ABD6-736A-7EEB474013DA}"/>
              </a:ext>
            </a:extLst>
          </p:cNvPr>
          <p:cNvSpPr txBox="1"/>
          <p:nvPr/>
        </p:nvSpPr>
        <p:spPr>
          <a:xfrm>
            <a:off x="1307691" y="1710813"/>
            <a:ext cx="9507794" cy="2800767"/>
          </a:xfrm>
          <a:prstGeom prst="rect">
            <a:avLst/>
          </a:prstGeom>
          <a:noFill/>
        </p:spPr>
        <p:txBody>
          <a:bodyPr wrap="square" rtlCol="0">
            <a:spAutoFit/>
          </a:bodyPr>
          <a:lstStyle/>
          <a:p>
            <a:pPr algn="ctr"/>
            <a:r>
              <a:rPr lang="en-IN" sz="4400" dirty="0">
                <a:solidFill>
                  <a:schemeClr val="bg2"/>
                </a:solidFill>
                <a:latin typeface="Times New Roman" panose="02020603050405020304" pitchFamily="18" charset="0"/>
                <a:cs typeface="Times New Roman" panose="02020603050405020304" pitchFamily="18" charset="0"/>
              </a:rPr>
              <a:t>MILESTONE – 4</a:t>
            </a:r>
          </a:p>
          <a:p>
            <a:pPr algn="ctr"/>
            <a:r>
              <a:rPr lang="en-IN" sz="4400" dirty="0">
                <a:solidFill>
                  <a:schemeClr val="bg2"/>
                </a:solidFill>
                <a:latin typeface="Times New Roman" panose="02020603050405020304" pitchFamily="18" charset="0"/>
                <a:cs typeface="Times New Roman" panose="02020603050405020304" pitchFamily="18" charset="0"/>
              </a:rPr>
              <a:t>Chat Feature </a:t>
            </a:r>
          </a:p>
          <a:p>
            <a:pPr algn="ctr"/>
            <a:r>
              <a:rPr lang="en-IN" sz="4400" dirty="0">
                <a:solidFill>
                  <a:schemeClr val="bg2"/>
                </a:solidFill>
                <a:latin typeface="Times New Roman" panose="02020603050405020304" pitchFamily="18" charset="0"/>
                <a:cs typeface="Times New Roman" panose="02020603050405020304" pitchFamily="18" charset="0"/>
              </a:rPr>
              <a:t>&amp; </a:t>
            </a:r>
          </a:p>
          <a:p>
            <a:pPr algn="ctr"/>
            <a:r>
              <a:rPr lang="en-IN" sz="4400" dirty="0">
                <a:solidFill>
                  <a:schemeClr val="bg2"/>
                </a:solidFill>
                <a:latin typeface="Times New Roman" panose="02020603050405020304" pitchFamily="18" charset="0"/>
                <a:cs typeface="Times New Roman" panose="02020603050405020304" pitchFamily="18" charset="0"/>
              </a:rPr>
              <a:t>Privacy and Controls</a:t>
            </a:r>
          </a:p>
        </p:txBody>
      </p:sp>
    </p:spTree>
    <p:extLst>
      <p:ext uri="{BB962C8B-B14F-4D97-AF65-F5344CB8AC3E}">
        <p14:creationId xmlns:p14="http://schemas.microsoft.com/office/powerpoint/2010/main" val="34846232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225;p22" descr="image.png">
            <a:extLst>
              <a:ext uri="{FF2B5EF4-FFF2-40B4-BE49-F238E27FC236}">
                <a16:creationId xmlns:a16="http://schemas.microsoft.com/office/drawing/2014/main" id="{A6656E56-DD7A-7E6D-39D8-DB05F79A85B4}"/>
              </a:ext>
            </a:extLst>
          </p:cNvPr>
          <p:cNvPicPr preferRelativeResize="0"/>
          <p:nvPr/>
        </p:nvPicPr>
        <p:blipFill rotWithShape="1">
          <a:blip r:embed="rId2">
            <a:alphaModFix/>
          </a:blip>
          <a:srcRect/>
          <a:stretch/>
        </p:blipFill>
        <p:spPr>
          <a:xfrm>
            <a:off x="0" y="6778113"/>
            <a:ext cx="12192000" cy="114300"/>
          </a:xfrm>
          <a:prstGeom prst="rect">
            <a:avLst/>
          </a:prstGeom>
          <a:noFill/>
          <a:ln>
            <a:noFill/>
          </a:ln>
        </p:spPr>
      </p:pic>
      <p:sp>
        <p:nvSpPr>
          <p:cNvPr id="3" name="Google Shape;184;p19">
            <a:extLst>
              <a:ext uri="{FF2B5EF4-FFF2-40B4-BE49-F238E27FC236}">
                <a16:creationId xmlns:a16="http://schemas.microsoft.com/office/drawing/2014/main" id="{A37394C3-EA13-3401-9D89-3C596D3529B7}"/>
              </a:ext>
            </a:extLst>
          </p:cNvPr>
          <p:cNvSpPr/>
          <p:nvPr/>
        </p:nvSpPr>
        <p:spPr>
          <a:xfrm>
            <a:off x="571500" y="1123950"/>
            <a:ext cx="11049000" cy="45719"/>
          </a:xfrm>
          <a:prstGeom prst="roundRect">
            <a:avLst>
              <a:gd name="adj" fmla="val 50000"/>
            </a:avLst>
          </a:prstGeom>
          <a:solidFill>
            <a:srgbClr val="EAB30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7" name="TextBox 6">
            <a:extLst>
              <a:ext uri="{FF2B5EF4-FFF2-40B4-BE49-F238E27FC236}">
                <a16:creationId xmlns:a16="http://schemas.microsoft.com/office/drawing/2014/main" id="{FBA0238E-7BA1-7EC7-C53E-1ACF944F8665}"/>
              </a:ext>
            </a:extLst>
          </p:cNvPr>
          <p:cNvSpPr txBox="1"/>
          <p:nvPr/>
        </p:nvSpPr>
        <p:spPr>
          <a:xfrm>
            <a:off x="571500" y="507837"/>
            <a:ext cx="8572500" cy="646331"/>
          </a:xfrm>
          <a:prstGeom prst="rect">
            <a:avLst/>
          </a:prstGeom>
          <a:noFill/>
        </p:spPr>
        <p:txBody>
          <a:bodyPr wrap="square">
            <a:spAutoFit/>
          </a:bodyPr>
          <a:lstStyle/>
          <a:p>
            <a:r>
              <a:rPr lang="en-US" sz="3600" b="1" dirty="0">
                <a:solidFill>
                  <a:srgbClr val="002060"/>
                </a:solidFill>
                <a:latin typeface="Montserrat"/>
                <a:ea typeface="Montserrat"/>
                <a:cs typeface="Montserrat"/>
                <a:sym typeface="Montserrat"/>
              </a:rPr>
              <a:t>C</a:t>
            </a:r>
            <a:r>
              <a:rPr kumimoji="0" lang="en-US" sz="3600" b="1" i="0" u="none" strike="noStrike" kern="0" cap="none" spc="0" normalizeH="0" baseline="0" noProof="0" dirty="0">
                <a:ln>
                  <a:noFill/>
                </a:ln>
                <a:solidFill>
                  <a:srgbClr val="002060"/>
                </a:solidFill>
                <a:effectLst/>
                <a:uLnTx/>
                <a:uFillTx/>
                <a:latin typeface="Montserrat"/>
                <a:ea typeface="Montserrat"/>
                <a:cs typeface="Montserrat"/>
                <a:sym typeface="Montserrat"/>
              </a:rPr>
              <a:t>hat Feature- Overview</a:t>
            </a:r>
            <a:endParaRPr lang="en-IN" dirty="0"/>
          </a:p>
        </p:txBody>
      </p:sp>
      <p:sp>
        <p:nvSpPr>
          <p:cNvPr id="9" name="TextBox 8">
            <a:extLst>
              <a:ext uri="{FF2B5EF4-FFF2-40B4-BE49-F238E27FC236}">
                <a16:creationId xmlns:a16="http://schemas.microsoft.com/office/drawing/2014/main" id="{DBA09BD8-92F1-5344-9D9D-3980729B1192}"/>
              </a:ext>
            </a:extLst>
          </p:cNvPr>
          <p:cNvSpPr txBox="1"/>
          <p:nvPr/>
        </p:nvSpPr>
        <p:spPr>
          <a:xfrm>
            <a:off x="914400" y="1986117"/>
            <a:ext cx="10225548" cy="3539430"/>
          </a:xfrm>
          <a:prstGeom prst="rect">
            <a:avLst/>
          </a:prstGeom>
          <a:noFill/>
        </p:spPr>
        <p:txBody>
          <a:bodyPr wrap="square">
            <a:spAutoFit/>
          </a:bodyPr>
          <a:lstStyle/>
          <a:p>
            <a:pPr marL="285750" indent="-285750" algn="just">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The chat feature enables secure communication between users after a lost or found item is successfully matched.</a:t>
            </a:r>
          </a:p>
          <a:p>
            <a:pPr marL="285750" indent="-285750" algn="just">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It allows users to interact directly within the Campus Track platform without using external communication methods.</a:t>
            </a:r>
          </a:p>
          <a:p>
            <a:pPr marL="285750" indent="-285750" algn="just">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The feature helps users discuss item details and coordinate the collection process smoothly.</a:t>
            </a:r>
          </a:p>
          <a:p>
            <a:pPr marL="285750" indent="-285750" algn="just">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Communication is restricted to matched users only, ensuring safe and relevant interactions.</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635140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oogle Shape;225;p22" descr="image.png">
            <a:extLst>
              <a:ext uri="{FF2B5EF4-FFF2-40B4-BE49-F238E27FC236}">
                <a16:creationId xmlns:a16="http://schemas.microsoft.com/office/drawing/2014/main" id="{D012A0DF-3BD3-AFA2-DE80-D33ED06E3A7B}"/>
              </a:ext>
            </a:extLst>
          </p:cNvPr>
          <p:cNvPicPr preferRelativeResize="0"/>
          <p:nvPr/>
        </p:nvPicPr>
        <p:blipFill rotWithShape="1">
          <a:blip r:embed="rId2">
            <a:alphaModFix/>
          </a:blip>
          <a:srcRect/>
          <a:stretch/>
        </p:blipFill>
        <p:spPr>
          <a:xfrm>
            <a:off x="0" y="6778113"/>
            <a:ext cx="12192000" cy="114300"/>
          </a:xfrm>
          <a:prstGeom prst="rect">
            <a:avLst/>
          </a:prstGeom>
          <a:noFill/>
          <a:ln>
            <a:noFill/>
          </a:ln>
        </p:spPr>
      </p:pic>
      <p:sp>
        <p:nvSpPr>
          <p:cNvPr id="5" name="Google Shape;184;p19">
            <a:extLst>
              <a:ext uri="{FF2B5EF4-FFF2-40B4-BE49-F238E27FC236}">
                <a16:creationId xmlns:a16="http://schemas.microsoft.com/office/drawing/2014/main" id="{FBE6CC60-304A-354E-F69D-B9B63189A3BC}"/>
              </a:ext>
            </a:extLst>
          </p:cNvPr>
          <p:cNvSpPr/>
          <p:nvPr/>
        </p:nvSpPr>
        <p:spPr>
          <a:xfrm>
            <a:off x="571500" y="1123950"/>
            <a:ext cx="11049000" cy="45719"/>
          </a:xfrm>
          <a:prstGeom prst="roundRect">
            <a:avLst>
              <a:gd name="adj" fmla="val 50000"/>
            </a:avLst>
          </a:prstGeom>
          <a:solidFill>
            <a:srgbClr val="EAB30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7" name="TextBox 6">
            <a:extLst>
              <a:ext uri="{FF2B5EF4-FFF2-40B4-BE49-F238E27FC236}">
                <a16:creationId xmlns:a16="http://schemas.microsoft.com/office/drawing/2014/main" id="{79A3B214-4E76-7DF1-E881-321F949143E7}"/>
              </a:ext>
            </a:extLst>
          </p:cNvPr>
          <p:cNvSpPr txBox="1"/>
          <p:nvPr/>
        </p:nvSpPr>
        <p:spPr>
          <a:xfrm>
            <a:off x="571500" y="550607"/>
            <a:ext cx="8572500" cy="646331"/>
          </a:xfrm>
          <a:prstGeom prst="rect">
            <a:avLst/>
          </a:prstGeom>
          <a:noFill/>
        </p:spPr>
        <p:txBody>
          <a:bodyPr wrap="square">
            <a:spAutoFit/>
          </a:bodyPr>
          <a:lstStyle/>
          <a:p>
            <a:r>
              <a:rPr lang="en-US" sz="3600" b="1" dirty="0">
                <a:solidFill>
                  <a:srgbClr val="002060"/>
                </a:solidFill>
                <a:latin typeface="Montserrat"/>
                <a:ea typeface="Montserrat"/>
                <a:cs typeface="Montserrat"/>
                <a:sym typeface="Montserrat"/>
              </a:rPr>
              <a:t>I</a:t>
            </a:r>
            <a:r>
              <a:rPr kumimoji="0" lang="en-US" sz="3600" b="1" i="0" u="none" strike="noStrike" kern="0" cap="none" spc="0" normalizeH="0" baseline="0" noProof="0" dirty="0">
                <a:ln>
                  <a:noFill/>
                </a:ln>
                <a:solidFill>
                  <a:srgbClr val="002060"/>
                </a:solidFill>
                <a:effectLst/>
                <a:uLnTx/>
                <a:uFillTx/>
                <a:latin typeface="Montserrat"/>
                <a:ea typeface="Montserrat"/>
                <a:cs typeface="Montserrat"/>
                <a:sym typeface="Montserrat"/>
              </a:rPr>
              <a:t>n</a:t>
            </a:r>
            <a:r>
              <a:rPr lang="en-US" sz="3600" b="1" dirty="0">
                <a:solidFill>
                  <a:srgbClr val="002060"/>
                </a:solidFill>
                <a:latin typeface="Montserrat"/>
                <a:ea typeface="Montserrat"/>
                <a:cs typeface="Montserrat"/>
                <a:sym typeface="Montserrat"/>
              </a:rPr>
              <a:t>- App Messaging System</a:t>
            </a:r>
            <a:endParaRPr lang="en-IN" dirty="0"/>
          </a:p>
        </p:txBody>
      </p:sp>
      <p:sp>
        <p:nvSpPr>
          <p:cNvPr id="9" name="TextBox 8">
            <a:extLst>
              <a:ext uri="{FF2B5EF4-FFF2-40B4-BE49-F238E27FC236}">
                <a16:creationId xmlns:a16="http://schemas.microsoft.com/office/drawing/2014/main" id="{E361FF19-BA77-2373-EDED-2BAC67FC8B32}"/>
              </a:ext>
            </a:extLst>
          </p:cNvPr>
          <p:cNvSpPr txBox="1"/>
          <p:nvPr/>
        </p:nvSpPr>
        <p:spPr>
          <a:xfrm>
            <a:off x="412954" y="1366683"/>
            <a:ext cx="6086169" cy="4832092"/>
          </a:xfrm>
          <a:prstGeom prst="rect">
            <a:avLst/>
          </a:prstGeom>
          <a:noFill/>
        </p:spPr>
        <p:txBody>
          <a:bodyPr wrap="square">
            <a:spAutoFit/>
          </a:bodyPr>
          <a:lstStyle/>
          <a:p>
            <a:pPr marL="457200" indent="-4572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The system supports basic in-app messaging between matched users.</a:t>
            </a:r>
          </a:p>
          <a:p>
            <a:pPr marL="457200" indent="-4572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Messages are displayed in a clear chat window with sender information and timestamps.</a:t>
            </a:r>
          </a:p>
          <a:p>
            <a:pPr marL="457200" indent="-4572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Users can send and receive text messages in real time for faster communication.</a:t>
            </a:r>
          </a:p>
          <a:p>
            <a:pPr marL="457200" indent="-4572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The chat interface is simple, user-friendly, and designed for easy understanding.</a:t>
            </a:r>
            <a:endParaRPr lang="en-IN" sz="2800"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6E0D7C40-023C-84B3-CA9F-34BDD1448CE6}"/>
              </a:ext>
            </a:extLst>
          </p:cNvPr>
          <p:cNvPicPr>
            <a:picLocks noChangeAspect="1"/>
          </p:cNvPicPr>
          <p:nvPr/>
        </p:nvPicPr>
        <p:blipFill>
          <a:blip r:embed="rId3"/>
          <a:stretch>
            <a:fillRect/>
          </a:stretch>
        </p:blipFill>
        <p:spPr>
          <a:xfrm>
            <a:off x="6504038" y="1491940"/>
            <a:ext cx="5279924" cy="4876580"/>
          </a:xfrm>
          <a:prstGeom prst="rect">
            <a:avLst/>
          </a:prstGeom>
        </p:spPr>
      </p:pic>
    </p:spTree>
    <p:extLst>
      <p:ext uri="{BB962C8B-B14F-4D97-AF65-F5344CB8AC3E}">
        <p14:creationId xmlns:p14="http://schemas.microsoft.com/office/powerpoint/2010/main" val="40450954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225;p22" descr="image.png">
            <a:extLst>
              <a:ext uri="{FF2B5EF4-FFF2-40B4-BE49-F238E27FC236}">
                <a16:creationId xmlns:a16="http://schemas.microsoft.com/office/drawing/2014/main" id="{BE811873-A89D-FCFC-B372-3B9DA7E31CE9}"/>
              </a:ext>
            </a:extLst>
          </p:cNvPr>
          <p:cNvPicPr preferRelativeResize="0"/>
          <p:nvPr/>
        </p:nvPicPr>
        <p:blipFill rotWithShape="1">
          <a:blip r:embed="rId2">
            <a:alphaModFix/>
          </a:blip>
          <a:srcRect/>
          <a:stretch/>
        </p:blipFill>
        <p:spPr>
          <a:xfrm>
            <a:off x="0" y="6778113"/>
            <a:ext cx="12192000" cy="114300"/>
          </a:xfrm>
          <a:prstGeom prst="rect">
            <a:avLst/>
          </a:prstGeom>
          <a:noFill/>
          <a:ln>
            <a:noFill/>
          </a:ln>
        </p:spPr>
      </p:pic>
      <p:sp>
        <p:nvSpPr>
          <p:cNvPr id="5" name="Google Shape;184;p19">
            <a:extLst>
              <a:ext uri="{FF2B5EF4-FFF2-40B4-BE49-F238E27FC236}">
                <a16:creationId xmlns:a16="http://schemas.microsoft.com/office/drawing/2014/main" id="{04E7501D-7BD2-87CA-C410-F26D04CC094C}"/>
              </a:ext>
            </a:extLst>
          </p:cNvPr>
          <p:cNvSpPr/>
          <p:nvPr/>
        </p:nvSpPr>
        <p:spPr>
          <a:xfrm>
            <a:off x="571500" y="1123950"/>
            <a:ext cx="11049000" cy="45719"/>
          </a:xfrm>
          <a:prstGeom prst="roundRect">
            <a:avLst>
              <a:gd name="adj" fmla="val 50000"/>
            </a:avLst>
          </a:prstGeom>
          <a:solidFill>
            <a:srgbClr val="EAB30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 name="TextBox 8">
            <a:extLst>
              <a:ext uri="{FF2B5EF4-FFF2-40B4-BE49-F238E27FC236}">
                <a16:creationId xmlns:a16="http://schemas.microsoft.com/office/drawing/2014/main" id="{2CDCAD18-BCFC-3BA3-459B-D477F5C1A739}"/>
              </a:ext>
            </a:extLst>
          </p:cNvPr>
          <p:cNvSpPr txBox="1"/>
          <p:nvPr/>
        </p:nvSpPr>
        <p:spPr>
          <a:xfrm>
            <a:off x="571500" y="498005"/>
            <a:ext cx="8572500" cy="646331"/>
          </a:xfrm>
          <a:prstGeom prst="rect">
            <a:avLst/>
          </a:prstGeom>
          <a:noFill/>
        </p:spPr>
        <p:txBody>
          <a:bodyPr wrap="square">
            <a:spAutoFit/>
          </a:bodyPr>
          <a:lstStyle/>
          <a:p>
            <a:r>
              <a:rPr kumimoji="0" lang="en-US" sz="3600" b="1" i="0" u="none" strike="noStrike" kern="0" cap="none" spc="0" normalizeH="0" baseline="0" noProof="0" dirty="0">
                <a:ln>
                  <a:noFill/>
                </a:ln>
                <a:solidFill>
                  <a:srgbClr val="002060"/>
                </a:solidFill>
                <a:effectLst/>
                <a:uLnTx/>
                <a:uFillTx/>
                <a:latin typeface="Montserrat"/>
                <a:ea typeface="Montserrat"/>
                <a:cs typeface="Montserrat"/>
                <a:sym typeface="Montserrat"/>
              </a:rPr>
              <a:t>Benefits of Chat Feature</a:t>
            </a:r>
            <a:endParaRPr lang="en-IN" dirty="0"/>
          </a:p>
        </p:txBody>
      </p:sp>
      <p:sp>
        <p:nvSpPr>
          <p:cNvPr id="11" name="TextBox 10">
            <a:extLst>
              <a:ext uri="{FF2B5EF4-FFF2-40B4-BE49-F238E27FC236}">
                <a16:creationId xmlns:a16="http://schemas.microsoft.com/office/drawing/2014/main" id="{4487B456-3DA6-7A4C-C3F5-A18A24E8F669}"/>
              </a:ext>
            </a:extLst>
          </p:cNvPr>
          <p:cNvSpPr txBox="1"/>
          <p:nvPr/>
        </p:nvSpPr>
        <p:spPr>
          <a:xfrm>
            <a:off x="1455174" y="1736867"/>
            <a:ext cx="9173496" cy="3539430"/>
          </a:xfrm>
          <a:prstGeom prst="rect">
            <a:avLst/>
          </a:prstGeom>
          <a:noFill/>
        </p:spPr>
        <p:txBody>
          <a:bodyPr wrap="square">
            <a:spAutoFit/>
          </a:bodyPr>
          <a:lstStyle/>
          <a:p>
            <a:pPr marL="457200" indent="-457200">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Enables quick and direct communication between matched users.</a:t>
            </a:r>
          </a:p>
          <a:p>
            <a:pPr marL="457200" indent="-457200">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Eliminates the need to share personal contact details externally.</a:t>
            </a:r>
          </a:p>
          <a:p>
            <a:pPr marL="457200" indent="-457200">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Improves coordination for item verification and collection.</a:t>
            </a:r>
          </a:p>
          <a:p>
            <a:pPr marL="457200" indent="-457200">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Keeps all lost and found related conversations in one secure platform.</a:t>
            </a:r>
          </a:p>
          <a:p>
            <a:pPr marL="457200" indent="-457200">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Enhances user trust and overall system usability.</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387612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B52FA-DBDE-AE88-1AD1-AB533DB0186F}"/>
            </a:ext>
          </a:extLst>
        </p:cNvPr>
        <p:cNvGrpSpPr/>
        <p:nvPr/>
      </p:nvGrpSpPr>
      <p:grpSpPr>
        <a:xfrm>
          <a:off x="0" y="0"/>
          <a:ext cx="0" cy="0"/>
          <a:chOff x="0" y="0"/>
          <a:chExt cx="0" cy="0"/>
        </a:xfrm>
      </p:grpSpPr>
      <p:pic>
        <p:nvPicPr>
          <p:cNvPr id="2" name="Google Shape;225;p22" descr="image.png">
            <a:extLst>
              <a:ext uri="{FF2B5EF4-FFF2-40B4-BE49-F238E27FC236}">
                <a16:creationId xmlns:a16="http://schemas.microsoft.com/office/drawing/2014/main" id="{160C4524-8CE4-8D7F-B574-EDCEBA30F651}"/>
              </a:ext>
            </a:extLst>
          </p:cNvPr>
          <p:cNvPicPr preferRelativeResize="0"/>
          <p:nvPr/>
        </p:nvPicPr>
        <p:blipFill rotWithShape="1">
          <a:blip r:embed="rId2">
            <a:alphaModFix/>
          </a:blip>
          <a:srcRect/>
          <a:stretch/>
        </p:blipFill>
        <p:spPr>
          <a:xfrm>
            <a:off x="0" y="6778113"/>
            <a:ext cx="12192000" cy="114300"/>
          </a:xfrm>
          <a:prstGeom prst="rect">
            <a:avLst/>
          </a:prstGeom>
          <a:noFill/>
          <a:ln>
            <a:noFill/>
          </a:ln>
        </p:spPr>
      </p:pic>
      <p:sp>
        <p:nvSpPr>
          <p:cNvPr id="3" name="TextBox 2">
            <a:extLst>
              <a:ext uri="{FF2B5EF4-FFF2-40B4-BE49-F238E27FC236}">
                <a16:creationId xmlns:a16="http://schemas.microsoft.com/office/drawing/2014/main" id="{6FD1D853-83FA-3771-D183-75719B90DD35}"/>
              </a:ext>
            </a:extLst>
          </p:cNvPr>
          <p:cNvSpPr txBox="1"/>
          <p:nvPr/>
        </p:nvSpPr>
        <p:spPr>
          <a:xfrm>
            <a:off x="1342103" y="2113936"/>
            <a:ext cx="9507794" cy="1446550"/>
          </a:xfrm>
          <a:prstGeom prst="rect">
            <a:avLst/>
          </a:prstGeom>
          <a:noFill/>
        </p:spPr>
        <p:txBody>
          <a:bodyPr wrap="square" rtlCol="0">
            <a:spAutoFit/>
          </a:bodyPr>
          <a:lstStyle/>
          <a:p>
            <a:pPr algn="ctr"/>
            <a:r>
              <a:rPr lang="en-IN" sz="4400" dirty="0">
                <a:solidFill>
                  <a:schemeClr val="bg2"/>
                </a:solidFill>
                <a:latin typeface="Times New Roman" panose="02020603050405020304" pitchFamily="18" charset="0"/>
                <a:cs typeface="Times New Roman" panose="02020603050405020304" pitchFamily="18" charset="0"/>
              </a:rPr>
              <a:t>MILESTONE – 5</a:t>
            </a:r>
          </a:p>
          <a:p>
            <a:pPr algn="ctr"/>
            <a:r>
              <a:rPr lang="en-IN" sz="4400" dirty="0">
                <a:solidFill>
                  <a:schemeClr val="bg2"/>
                </a:solidFill>
                <a:latin typeface="Times New Roman" panose="02020603050405020304" pitchFamily="18" charset="0"/>
                <a:cs typeface="Times New Roman" panose="02020603050405020304" pitchFamily="18" charset="0"/>
              </a:rPr>
              <a:t>Admin Pannel</a:t>
            </a:r>
          </a:p>
        </p:txBody>
      </p:sp>
    </p:spTree>
    <p:extLst>
      <p:ext uri="{BB962C8B-B14F-4D97-AF65-F5344CB8AC3E}">
        <p14:creationId xmlns:p14="http://schemas.microsoft.com/office/powerpoint/2010/main" val="11811998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FF6A0-7964-4557-7D94-BC661FF457B0}"/>
            </a:ext>
          </a:extLst>
        </p:cNvPr>
        <p:cNvGrpSpPr/>
        <p:nvPr/>
      </p:nvGrpSpPr>
      <p:grpSpPr>
        <a:xfrm>
          <a:off x="0" y="0"/>
          <a:ext cx="0" cy="0"/>
          <a:chOff x="0" y="0"/>
          <a:chExt cx="0" cy="0"/>
        </a:xfrm>
      </p:grpSpPr>
      <p:pic>
        <p:nvPicPr>
          <p:cNvPr id="2" name="Google Shape;225;p22" descr="image.png">
            <a:extLst>
              <a:ext uri="{FF2B5EF4-FFF2-40B4-BE49-F238E27FC236}">
                <a16:creationId xmlns:a16="http://schemas.microsoft.com/office/drawing/2014/main" id="{27BEB94C-F956-C526-43A2-C195AC413544}"/>
              </a:ext>
            </a:extLst>
          </p:cNvPr>
          <p:cNvPicPr preferRelativeResize="0"/>
          <p:nvPr/>
        </p:nvPicPr>
        <p:blipFill rotWithShape="1">
          <a:blip r:embed="rId2">
            <a:alphaModFix/>
          </a:blip>
          <a:srcRect/>
          <a:stretch/>
        </p:blipFill>
        <p:spPr>
          <a:xfrm>
            <a:off x="0" y="6778113"/>
            <a:ext cx="12192000" cy="114300"/>
          </a:xfrm>
          <a:prstGeom prst="rect">
            <a:avLst/>
          </a:prstGeom>
          <a:noFill/>
          <a:ln>
            <a:noFill/>
          </a:ln>
        </p:spPr>
      </p:pic>
      <p:sp>
        <p:nvSpPr>
          <p:cNvPr id="3" name="Google Shape;184;p19">
            <a:extLst>
              <a:ext uri="{FF2B5EF4-FFF2-40B4-BE49-F238E27FC236}">
                <a16:creationId xmlns:a16="http://schemas.microsoft.com/office/drawing/2014/main" id="{D00D7C63-2415-D838-EE3D-85B861F7241F}"/>
              </a:ext>
            </a:extLst>
          </p:cNvPr>
          <p:cNvSpPr/>
          <p:nvPr/>
        </p:nvSpPr>
        <p:spPr>
          <a:xfrm>
            <a:off x="571500" y="1123950"/>
            <a:ext cx="11049000" cy="45719"/>
          </a:xfrm>
          <a:prstGeom prst="roundRect">
            <a:avLst>
              <a:gd name="adj" fmla="val 50000"/>
            </a:avLst>
          </a:prstGeom>
          <a:solidFill>
            <a:srgbClr val="EAB30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7" name="TextBox 6">
            <a:extLst>
              <a:ext uri="{FF2B5EF4-FFF2-40B4-BE49-F238E27FC236}">
                <a16:creationId xmlns:a16="http://schemas.microsoft.com/office/drawing/2014/main" id="{97C3E154-FE65-4C2D-8F1D-9105F7DB7F10}"/>
              </a:ext>
            </a:extLst>
          </p:cNvPr>
          <p:cNvSpPr txBox="1"/>
          <p:nvPr/>
        </p:nvSpPr>
        <p:spPr>
          <a:xfrm>
            <a:off x="571500" y="507837"/>
            <a:ext cx="8572500" cy="646331"/>
          </a:xfrm>
          <a:prstGeom prst="rect">
            <a:avLst/>
          </a:prstGeom>
          <a:noFill/>
        </p:spPr>
        <p:txBody>
          <a:bodyPr wrap="square">
            <a:spAutoFit/>
          </a:bodyPr>
          <a:lstStyle/>
          <a:p>
            <a:r>
              <a:rPr lang="en-US" sz="3600" b="1" dirty="0">
                <a:solidFill>
                  <a:srgbClr val="002060"/>
                </a:solidFill>
                <a:latin typeface="Montserrat"/>
                <a:ea typeface="Montserrat"/>
                <a:cs typeface="Montserrat"/>
                <a:sym typeface="Montserrat"/>
              </a:rPr>
              <a:t>	Admin Pannel</a:t>
            </a:r>
            <a:endParaRPr lang="en-IN" dirty="0"/>
          </a:p>
        </p:txBody>
      </p:sp>
      <p:sp>
        <p:nvSpPr>
          <p:cNvPr id="9" name="TextBox 8">
            <a:extLst>
              <a:ext uri="{FF2B5EF4-FFF2-40B4-BE49-F238E27FC236}">
                <a16:creationId xmlns:a16="http://schemas.microsoft.com/office/drawing/2014/main" id="{C9D9F775-AE4A-6C82-7CAC-390D37A32C7B}"/>
              </a:ext>
            </a:extLst>
          </p:cNvPr>
          <p:cNvSpPr txBox="1"/>
          <p:nvPr/>
        </p:nvSpPr>
        <p:spPr>
          <a:xfrm>
            <a:off x="894735" y="1948958"/>
            <a:ext cx="10225548" cy="4401205"/>
          </a:xfrm>
          <a:prstGeom prst="rect">
            <a:avLst/>
          </a:prstGeom>
          <a:noFill/>
        </p:spPr>
        <p:txBody>
          <a:bodyPr wrap="square">
            <a:spAutoFit/>
          </a:bodyPr>
          <a:lstStyle/>
          <a:p>
            <a:pPr marL="457200" indent="-457200">
              <a:buFont typeface="Arial" panose="020B0604020202020204" pitchFamily="34" charset="0"/>
              <a:buChar char="•"/>
            </a:pPr>
            <a:r>
              <a:rPr lang="en-US" sz="2800" dirty="0"/>
              <a:t>Dedicated module for administrators to manage the Campus Track platform.</a:t>
            </a:r>
          </a:p>
          <a:p>
            <a:pPr marL="457200" indent="-457200">
              <a:buFont typeface="Arial" panose="020B0604020202020204" pitchFamily="34" charset="0"/>
              <a:buChar char="•"/>
            </a:pPr>
            <a:r>
              <a:rPr lang="en-US" sz="2800" dirty="0"/>
              <a:t> Allows admins to view and monitor all lost and found posts.</a:t>
            </a:r>
          </a:p>
          <a:p>
            <a:pPr marL="457200" indent="-457200">
              <a:buFont typeface="Arial" panose="020B0604020202020204" pitchFamily="34" charset="0"/>
              <a:buChar char="•"/>
            </a:pPr>
            <a:r>
              <a:rPr lang="en-US" sz="2800" dirty="0"/>
              <a:t> Enables approval, editing, or removal of inappropriate or duplicate entries.</a:t>
            </a:r>
          </a:p>
          <a:p>
            <a:pPr marL="457200" indent="-457200">
              <a:buFont typeface="Arial" panose="020B0604020202020204" pitchFamily="34" charset="0"/>
              <a:buChar char="•"/>
            </a:pPr>
            <a:r>
              <a:rPr lang="en-US" sz="2800" dirty="0"/>
              <a:t> Supports content moderation through user-reported flags.</a:t>
            </a:r>
          </a:p>
          <a:p>
            <a:pPr marL="457200" indent="-457200">
              <a:buFont typeface="Arial" panose="020B0604020202020204" pitchFamily="34" charset="0"/>
              <a:buChar char="•"/>
            </a:pPr>
            <a:r>
              <a:rPr lang="en-US" sz="2800" dirty="0"/>
              <a:t> Helps maintain platform security, quality, and user trust.</a:t>
            </a:r>
          </a:p>
          <a:p>
            <a:pPr marL="457200" indent="-457200">
              <a:buFont typeface="Arial" panose="020B0604020202020204" pitchFamily="34" charset="0"/>
              <a:buChar char="•"/>
            </a:pPr>
            <a:r>
              <a:rPr lang="en-US" sz="2800" dirty="0"/>
              <a:t> Provides access to reports and system performance insights.</a:t>
            </a:r>
          </a:p>
          <a:p>
            <a:pPr marL="457200" indent="-457200" algn="just">
              <a:buFont typeface="Arial" panose="020B0604020202020204" pitchFamily="34" charset="0"/>
              <a:buChar char="•"/>
            </a:pP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31241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81">
          <a:extLst>
            <a:ext uri="{FF2B5EF4-FFF2-40B4-BE49-F238E27FC236}">
              <a16:creationId xmlns:a16="http://schemas.microsoft.com/office/drawing/2014/main" id="{211BE77D-1231-7282-C142-E2C80DE8AFDB}"/>
            </a:ext>
          </a:extLst>
        </p:cNvPr>
        <p:cNvGrpSpPr/>
        <p:nvPr/>
      </p:nvGrpSpPr>
      <p:grpSpPr>
        <a:xfrm>
          <a:off x="0" y="0"/>
          <a:ext cx="0" cy="0"/>
          <a:chOff x="0" y="0"/>
          <a:chExt cx="0" cy="0"/>
        </a:xfrm>
      </p:grpSpPr>
      <p:pic>
        <p:nvPicPr>
          <p:cNvPr id="182" name="Google Shape;182;p19" descr="image.png">
            <a:extLst>
              <a:ext uri="{FF2B5EF4-FFF2-40B4-BE49-F238E27FC236}">
                <a16:creationId xmlns:a16="http://schemas.microsoft.com/office/drawing/2014/main" id="{400C7E12-2A7B-9A3E-3E5F-BD00D12C1150}"/>
              </a:ext>
            </a:extLst>
          </p:cNvPr>
          <p:cNvPicPr preferRelativeResize="0"/>
          <p:nvPr/>
        </p:nvPicPr>
        <p:blipFill rotWithShape="1">
          <a:blip r:embed="rId3">
            <a:alphaModFix/>
          </a:blip>
          <a:srcRect/>
          <a:stretch/>
        </p:blipFill>
        <p:spPr>
          <a:xfrm>
            <a:off x="0" y="6743700"/>
            <a:ext cx="12192000" cy="114300"/>
          </a:xfrm>
          <a:prstGeom prst="rect">
            <a:avLst/>
          </a:prstGeom>
          <a:noFill/>
          <a:ln>
            <a:noFill/>
          </a:ln>
        </p:spPr>
      </p:pic>
      <p:sp>
        <p:nvSpPr>
          <p:cNvPr id="183" name="Google Shape;183;p19">
            <a:extLst>
              <a:ext uri="{FF2B5EF4-FFF2-40B4-BE49-F238E27FC236}">
                <a16:creationId xmlns:a16="http://schemas.microsoft.com/office/drawing/2014/main" id="{55117A90-217C-DF28-77F5-191210C62763}"/>
              </a:ext>
            </a:extLst>
          </p:cNvPr>
          <p:cNvSpPr txBox="1"/>
          <p:nvPr/>
        </p:nvSpPr>
        <p:spPr>
          <a:xfrm>
            <a:off x="581332" y="600359"/>
            <a:ext cx="11601450"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a:solidFill>
                  <a:srgbClr val="002060"/>
                </a:solidFill>
                <a:latin typeface="Montserrat"/>
                <a:cs typeface="Times New Roman" panose="02020603050405020304" pitchFamily="18" charset="0"/>
                <a:sym typeface="Montserrat"/>
              </a:rPr>
              <a:t>Admin Dashboard</a:t>
            </a:r>
            <a:endParaRPr dirty="0">
              <a:solidFill>
                <a:srgbClr val="002060"/>
              </a:solidFill>
              <a:latin typeface="Times New Roman" panose="02020603050405020304" pitchFamily="18" charset="0"/>
              <a:cs typeface="Times New Roman" panose="02020603050405020304" pitchFamily="18" charset="0"/>
            </a:endParaRPr>
          </a:p>
        </p:txBody>
      </p:sp>
      <p:sp>
        <p:nvSpPr>
          <p:cNvPr id="184" name="Google Shape;184;p19">
            <a:extLst>
              <a:ext uri="{FF2B5EF4-FFF2-40B4-BE49-F238E27FC236}">
                <a16:creationId xmlns:a16="http://schemas.microsoft.com/office/drawing/2014/main" id="{168C0CC7-170E-859D-B5A5-28031F5F7675}"/>
              </a:ext>
            </a:extLst>
          </p:cNvPr>
          <p:cNvSpPr/>
          <p:nvPr/>
        </p:nvSpPr>
        <p:spPr>
          <a:xfrm>
            <a:off x="571500" y="1123950"/>
            <a:ext cx="11049000" cy="45719"/>
          </a:xfrm>
          <a:prstGeom prst="roundRect">
            <a:avLst>
              <a:gd name="adj" fmla="val 50000"/>
            </a:avLst>
          </a:prstGeom>
          <a:solidFill>
            <a:srgbClr val="EAB30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6" name="Google Shape;186;p19">
            <a:extLst>
              <a:ext uri="{FF2B5EF4-FFF2-40B4-BE49-F238E27FC236}">
                <a16:creationId xmlns:a16="http://schemas.microsoft.com/office/drawing/2014/main" id="{74C12232-2EE3-C314-10A8-4F077731001F}"/>
              </a:ext>
            </a:extLst>
          </p:cNvPr>
          <p:cNvSpPr txBox="1"/>
          <p:nvPr/>
        </p:nvSpPr>
        <p:spPr>
          <a:xfrm>
            <a:off x="571500" y="1274076"/>
            <a:ext cx="10360356" cy="415498"/>
          </a:xfrm>
          <a:prstGeom prst="rect">
            <a:avLst/>
          </a:prstGeom>
          <a:noFill/>
          <a:ln>
            <a:noFill/>
          </a:ln>
        </p:spPr>
        <p:txBody>
          <a:bodyPr spcFirstLastPara="1" wrap="square" lIns="0" tIns="0" rIns="0" bIns="0" anchor="t" anchorCtr="0">
            <a:spAutoFit/>
          </a:bodyPr>
          <a:lstStyle/>
          <a:p>
            <a:pPr lvl="0">
              <a:lnSpc>
                <a:spcPct val="150000"/>
              </a:lnSpc>
            </a:pPr>
            <a:r>
              <a:rPr lang="en-US" sz="1800" dirty="0">
                <a:solidFill>
                  <a:schemeClr val="tx1">
                    <a:lumMod val="50000"/>
                    <a:lumOff val="50000"/>
                  </a:schemeClr>
                </a:solidFill>
                <a:latin typeface="Arial Unicode MS" pitchFamily="34" charset="-128"/>
                <a:ea typeface="Arial Unicode MS" pitchFamily="34" charset="-128"/>
                <a:cs typeface="Arial Unicode MS" pitchFamily="34" charset="-128"/>
              </a:rPr>
              <a:t>The Admin Dashboard looks like.</a:t>
            </a:r>
            <a:endParaRPr dirty="0">
              <a:solidFill>
                <a:schemeClr val="tx1">
                  <a:lumMod val="50000"/>
                  <a:lumOff val="50000"/>
                </a:schemeClr>
              </a:solidFill>
              <a:latin typeface="Arial Unicode MS" pitchFamily="34" charset="-128"/>
              <a:ea typeface="Arial Unicode MS" pitchFamily="34" charset="-128"/>
              <a:cs typeface="Arial Unicode MS" pitchFamily="34" charset="-128"/>
            </a:endParaRPr>
          </a:p>
        </p:txBody>
      </p:sp>
      <p:pic>
        <p:nvPicPr>
          <p:cNvPr id="3" name="Picture 2">
            <a:extLst>
              <a:ext uri="{FF2B5EF4-FFF2-40B4-BE49-F238E27FC236}">
                <a16:creationId xmlns:a16="http://schemas.microsoft.com/office/drawing/2014/main" id="{DCDC73D6-8284-9B92-A35D-71BEAC28D38E}"/>
              </a:ext>
            </a:extLst>
          </p:cNvPr>
          <p:cNvPicPr>
            <a:picLocks noChangeAspect="1"/>
          </p:cNvPicPr>
          <p:nvPr/>
        </p:nvPicPr>
        <p:blipFill>
          <a:blip r:embed="rId4"/>
          <a:stretch>
            <a:fillRect/>
          </a:stretch>
        </p:blipFill>
        <p:spPr>
          <a:xfrm>
            <a:off x="1759974" y="1868622"/>
            <a:ext cx="9065342" cy="4414845"/>
          </a:xfrm>
          <a:prstGeom prst="rect">
            <a:avLst/>
          </a:prstGeom>
        </p:spPr>
      </p:pic>
    </p:spTree>
    <p:extLst>
      <p:ext uri="{BB962C8B-B14F-4D97-AF65-F5344CB8AC3E}">
        <p14:creationId xmlns:p14="http://schemas.microsoft.com/office/powerpoint/2010/main" val="22509106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A90A3C-5021-F6BB-007C-36DF1B5BEDA0}"/>
            </a:ext>
          </a:extLst>
        </p:cNvPr>
        <p:cNvGrpSpPr/>
        <p:nvPr/>
      </p:nvGrpSpPr>
      <p:grpSpPr>
        <a:xfrm>
          <a:off x="0" y="0"/>
          <a:ext cx="0" cy="0"/>
          <a:chOff x="0" y="0"/>
          <a:chExt cx="0" cy="0"/>
        </a:xfrm>
      </p:grpSpPr>
      <p:pic>
        <p:nvPicPr>
          <p:cNvPr id="2" name="Google Shape;225;p22" descr="image.png">
            <a:extLst>
              <a:ext uri="{FF2B5EF4-FFF2-40B4-BE49-F238E27FC236}">
                <a16:creationId xmlns:a16="http://schemas.microsoft.com/office/drawing/2014/main" id="{A856FE4E-024A-5BBC-0AEE-4006CB0DA417}"/>
              </a:ext>
            </a:extLst>
          </p:cNvPr>
          <p:cNvPicPr preferRelativeResize="0"/>
          <p:nvPr/>
        </p:nvPicPr>
        <p:blipFill rotWithShape="1">
          <a:blip r:embed="rId2">
            <a:alphaModFix/>
          </a:blip>
          <a:srcRect/>
          <a:stretch/>
        </p:blipFill>
        <p:spPr>
          <a:xfrm>
            <a:off x="0" y="6778113"/>
            <a:ext cx="12192000" cy="114300"/>
          </a:xfrm>
          <a:prstGeom prst="rect">
            <a:avLst/>
          </a:prstGeom>
          <a:noFill/>
          <a:ln>
            <a:noFill/>
          </a:ln>
        </p:spPr>
      </p:pic>
      <p:sp>
        <p:nvSpPr>
          <p:cNvPr id="3" name="TextBox 2">
            <a:extLst>
              <a:ext uri="{FF2B5EF4-FFF2-40B4-BE49-F238E27FC236}">
                <a16:creationId xmlns:a16="http://schemas.microsoft.com/office/drawing/2014/main" id="{4F5D8B0A-640C-9977-CC36-D08B2557B57B}"/>
              </a:ext>
            </a:extLst>
          </p:cNvPr>
          <p:cNvSpPr txBox="1"/>
          <p:nvPr/>
        </p:nvSpPr>
        <p:spPr>
          <a:xfrm>
            <a:off x="1342103" y="2113936"/>
            <a:ext cx="9507794" cy="1446550"/>
          </a:xfrm>
          <a:prstGeom prst="rect">
            <a:avLst/>
          </a:prstGeom>
          <a:noFill/>
        </p:spPr>
        <p:txBody>
          <a:bodyPr wrap="square" rtlCol="0">
            <a:spAutoFit/>
          </a:bodyPr>
          <a:lstStyle/>
          <a:p>
            <a:pPr algn="ctr"/>
            <a:r>
              <a:rPr lang="en-IN" sz="4400" dirty="0">
                <a:solidFill>
                  <a:schemeClr val="bg2"/>
                </a:solidFill>
                <a:latin typeface="Times New Roman" panose="02020603050405020304" pitchFamily="18" charset="0"/>
                <a:cs typeface="Times New Roman" panose="02020603050405020304" pitchFamily="18" charset="0"/>
              </a:rPr>
              <a:t>MILESTONE – 6</a:t>
            </a:r>
          </a:p>
          <a:p>
            <a:pPr algn="ctr"/>
            <a:r>
              <a:rPr lang="en-IN" sz="4400" dirty="0">
                <a:solidFill>
                  <a:schemeClr val="bg2"/>
                </a:solidFill>
                <a:latin typeface="Times New Roman" panose="02020603050405020304" pitchFamily="18" charset="0"/>
                <a:cs typeface="Times New Roman" panose="02020603050405020304" pitchFamily="18" charset="0"/>
              </a:rPr>
              <a:t>Reporting Dashboard</a:t>
            </a:r>
          </a:p>
        </p:txBody>
      </p:sp>
    </p:spTree>
    <p:extLst>
      <p:ext uri="{BB962C8B-B14F-4D97-AF65-F5344CB8AC3E}">
        <p14:creationId xmlns:p14="http://schemas.microsoft.com/office/powerpoint/2010/main" val="38793990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CE8A00-342D-C712-95E3-CE8BA3AAC324}"/>
            </a:ext>
          </a:extLst>
        </p:cNvPr>
        <p:cNvGrpSpPr/>
        <p:nvPr/>
      </p:nvGrpSpPr>
      <p:grpSpPr>
        <a:xfrm>
          <a:off x="0" y="0"/>
          <a:ext cx="0" cy="0"/>
          <a:chOff x="0" y="0"/>
          <a:chExt cx="0" cy="0"/>
        </a:xfrm>
      </p:grpSpPr>
      <p:pic>
        <p:nvPicPr>
          <p:cNvPr id="2" name="Google Shape;225;p22" descr="image.png">
            <a:extLst>
              <a:ext uri="{FF2B5EF4-FFF2-40B4-BE49-F238E27FC236}">
                <a16:creationId xmlns:a16="http://schemas.microsoft.com/office/drawing/2014/main" id="{272E67C8-8B15-0F1A-89BF-0ECC353933E9}"/>
              </a:ext>
            </a:extLst>
          </p:cNvPr>
          <p:cNvPicPr preferRelativeResize="0"/>
          <p:nvPr/>
        </p:nvPicPr>
        <p:blipFill rotWithShape="1">
          <a:blip r:embed="rId2">
            <a:alphaModFix/>
          </a:blip>
          <a:srcRect/>
          <a:stretch/>
        </p:blipFill>
        <p:spPr>
          <a:xfrm>
            <a:off x="0" y="6778113"/>
            <a:ext cx="12192000" cy="114300"/>
          </a:xfrm>
          <a:prstGeom prst="rect">
            <a:avLst/>
          </a:prstGeom>
          <a:noFill/>
          <a:ln>
            <a:noFill/>
          </a:ln>
        </p:spPr>
      </p:pic>
      <p:sp>
        <p:nvSpPr>
          <p:cNvPr id="3" name="Google Shape;184;p19">
            <a:extLst>
              <a:ext uri="{FF2B5EF4-FFF2-40B4-BE49-F238E27FC236}">
                <a16:creationId xmlns:a16="http://schemas.microsoft.com/office/drawing/2014/main" id="{8B32C33D-C18B-0F73-7F1C-3684706552F8}"/>
              </a:ext>
            </a:extLst>
          </p:cNvPr>
          <p:cNvSpPr/>
          <p:nvPr/>
        </p:nvSpPr>
        <p:spPr>
          <a:xfrm>
            <a:off x="571500" y="1123950"/>
            <a:ext cx="11049000" cy="45719"/>
          </a:xfrm>
          <a:prstGeom prst="roundRect">
            <a:avLst>
              <a:gd name="adj" fmla="val 50000"/>
            </a:avLst>
          </a:prstGeom>
          <a:solidFill>
            <a:srgbClr val="EAB30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7" name="TextBox 6">
            <a:extLst>
              <a:ext uri="{FF2B5EF4-FFF2-40B4-BE49-F238E27FC236}">
                <a16:creationId xmlns:a16="http://schemas.microsoft.com/office/drawing/2014/main" id="{A9E95107-80D5-AC52-21D5-C51611B6CA08}"/>
              </a:ext>
            </a:extLst>
          </p:cNvPr>
          <p:cNvSpPr txBox="1"/>
          <p:nvPr/>
        </p:nvSpPr>
        <p:spPr>
          <a:xfrm>
            <a:off x="571500" y="507837"/>
            <a:ext cx="8572500" cy="646331"/>
          </a:xfrm>
          <a:prstGeom prst="rect">
            <a:avLst/>
          </a:prstGeom>
          <a:noFill/>
        </p:spPr>
        <p:txBody>
          <a:bodyPr wrap="square">
            <a:spAutoFit/>
          </a:bodyPr>
          <a:lstStyle/>
          <a:p>
            <a:r>
              <a:rPr lang="en-US" sz="3600" b="1" dirty="0">
                <a:solidFill>
                  <a:srgbClr val="002060"/>
                </a:solidFill>
                <a:latin typeface="Times New Roman" panose="02020603050405020304" pitchFamily="18" charset="0"/>
                <a:cs typeface="Times New Roman" panose="02020603050405020304" pitchFamily="18" charset="0"/>
                <a:sym typeface="Montserrat"/>
              </a:rPr>
              <a:t>Reporting Dashboard</a:t>
            </a:r>
            <a:endParaRPr lang="en-IN"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F51B6AAC-2AF0-D518-C7F0-CBA36D18ACA5}"/>
              </a:ext>
            </a:extLst>
          </p:cNvPr>
          <p:cNvSpPr txBox="1"/>
          <p:nvPr/>
        </p:nvSpPr>
        <p:spPr>
          <a:xfrm>
            <a:off x="894735" y="1948958"/>
            <a:ext cx="10225548" cy="3539430"/>
          </a:xfrm>
          <a:prstGeom prst="rect">
            <a:avLst/>
          </a:prstGeom>
          <a:noFill/>
        </p:spPr>
        <p:txBody>
          <a:bodyPr wrap="square">
            <a:spAutoFit/>
          </a:bodyPr>
          <a:lstStyle/>
          <a:p>
            <a:pPr marL="457200" indent="-457200">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Provides insights into overall platform usage and activity.</a:t>
            </a:r>
          </a:p>
          <a:p>
            <a:pPr marL="457200" indent="-457200">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Tracks the number of lost items reported, matched, and recovered.</a:t>
            </a:r>
          </a:p>
          <a:p>
            <a:pPr marL="457200" indent="-457200">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 Displays statistics based on category, date, and campus location.</a:t>
            </a:r>
          </a:p>
          <a:p>
            <a:pPr marL="457200" indent="-457200">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 Monitors user engagement such as active users and post frequency.</a:t>
            </a:r>
          </a:p>
          <a:p>
            <a:pPr marL="457200" indent="-457200">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 Helps administrators evaluate system performance and effectiveness.</a:t>
            </a:r>
          </a:p>
          <a:p>
            <a:pPr marL="457200" indent="-457200" algn="just">
              <a:buFont typeface="Courier New" panose="02070309020205020404" pitchFamily="49" charset="0"/>
              <a:buChar char="o"/>
            </a:pP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397367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81">
          <a:extLst>
            <a:ext uri="{FF2B5EF4-FFF2-40B4-BE49-F238E27FC236}">
              <a16:creationId xmlns:a16="http://schemas.microsoft.com/office/drawing/2014/main" id="{1D66A718-6989-5BFD-3512-A4D7EB96757F}"/>
            </a:ext>
          </a:extLst>
        </p:cNvPr>
        <p:cNvGrpSpPr/>
        <p:nvPr/>
      </p:nvGrpSpPr>
      <p:grpSpPr>
        <a:xfrm>
          <a:off x="0" y="0"/>
          <a:ext cx="0" cy="0"/>
          <a:chOff x="0" y="0"/>
          <a:chExt cx="0" cy="0"/>
        </a:xfrm>
      </p:grpSpPr>
      <p:pic>
        <p:nvPicPr>
          <p:cNvPr id="182" name="Google Shape;182;p19" descr="image.png">
            <a:extLst>
              <a:ext uri="{FF2B5EF4-FFF2-40B4-BE49-F238E27FC236}">
                <a16:creationId xmlns:a16="http://schemas.microsoft.com/office/drawing/2014/main" id="{A4EED11A-C180-12ED-5F58-8E22779203DD}"/>
              </a:ext>
            </a:extLst>
          </p:cNvPr>
          <p:cNvPicPr preferRelativeResize="0"/>
          <p:nvPr/>
        </p:nvPicPr>
        <p:blipFill rotWithShape="1">
          <a:blip r:embed="rId3">
            <a:alphaModFix/>
          </a:blip>
          <a:srcRect/>
          <a:stretch/>
        </p:blipFill>
        <p:spPr>
          <a:xfrm>
            <a:off x="0" y="6743700"/>
            <a:ext cx="12192000" cy="114300"/>
          </a:xfrm>
          <a:prstGeom prst="rect">
            <a:avLst/>
          </a:prstGeom>
          <a:noFill/>
          <a:ln>
            <a:noFill/>
          </a:ln>
        </p:spPr>
      </p:pic>
      <p:sp>
        <p:nvSpPr>
          <p:cNvPr id="183" name="Google Shape;183;p19">
            <a:extLst>
              <a:ext uri="{FF2B5EF4-FFF2-40B4-BE49-F238E27FC236}">
                <a16:creationId xmlns:a16="http://schemas.microsoft.com/office/drawing/2014/main" id="{683D569C-150A-140F-DF59-B9DB2127989A}"/>
              </a:ext>
            </a:extLst>
          </p:cNvPr>
          <p:cNvSpPr txBox="1"/>
          <p:nvPr/>
        </p:nvSpPr>
        <p:spPr>
          <a:xfrm>
            <a:off x="571500" y="600359"/>
            <a:ext cx="11601450" cy="552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kumimoji="0" lang="en-US" sz="3600" b="1" i="0" u="none" strike="noStrike" kern="0" cap="none" spc="0" normalizeH="0" baseline="0" noProof="0" dirty="0">
                <a:ln>
                  <a:noFill/>
                </a:ln>
                <a:solidFill>
                  <a:srgbClr val="002060"/>
                </a:solidFill>
                <a:effectLst/>
                <a:uLnTx/>
                <a:uFillTx/>
                <a:latin typeface="Montserrat"/>
                <a:ea typeface="Montserrat"/>
                <a:cs typeface="Montserrat"/>
                <a:sym typeface="Montserrat"/>
              </a:rPr>
              <a:t>Analysis Page</a:t>
            </a:r>
            <a:endParaRPr dirty="0">
              <a:solidFill>
                <a:srgbClr val="002060"/>
              </a:solidFill>
              <a:latin typeface="Times New Roman" panose="02020603050405020304" pitchFamily="18" charset="0"/>
              <a:cs typeface="Times New Roman" panose="02020603050405020304" pitchFamily="18" charset="0"/>
            </a:endParaRPr>
          </a:p>
        </p:txBody>
      </p:sp>
      <p:sp>
        <p:nvSpPr>
          <p:cNvPr id="184" name="Google Shape;184;p19">
            <a:extLst>
              <a:ext uri="{FF2B5EF4-FFF2-40B4-BE49-F238E27FC236}">
                <a16:creationId xmlns:a16="http://schemas.microsoft.com/office/drawing/2014/main" id="{13DC4EE1-8842-D0B2-F01F-29EA3B6DA970}"/>
              </a:ext>
            </a:extLst>
          </p:cNvPr>
          <p:cNvSpPr/>
          <p:nvPr/>
        </p:nvSpPr>
        <p:spPr>
          <a:xfrm>
            <a:off x="571500" y="1123950"/>
            <a:ext cx="11049000" cy="45719"/>
          </a:xfrm>
          <a:prstGeom prst="roundRect">
            <a:avLst>
              <a:gd name="adj" fmla="val 50000"/>
            </a:avLst>
          </a:prstGeom>
          <a:solidFill>
            <a:srgbClr val="EAB30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 name="Picture 2">
            <a:extLst>
              <a:ext uri="{FF2B5EF4-FFF2-40B4-BE49-F238E27FC236}">
                <a16:creationId xmlns:a16="http://schemas.microsoft.com/office/drawing/2014/main" id="{12CA6922-8D5D-C7E0-0907-C4D0658E6982}"/>
              </a:ext>
            </a:extLst>
          </p:cNvPr>
          <p:cNvPicPr>
            <a:picLocks noChangeAspect="1"/>
          </p:cNvPicPr>
          <p:nvPr/>
        </p:nvPicPr>
        <p:blipFill>
          <a:blip r:embed="rId4"/>
          <a:stretch>
            <a:fillRect/>
          </a:stretch>
        </p:blipFill>
        <p:spPr>
          <a:xfrm>
            <a:off x="915822" y="1274076"/>
            <a:ext cx="10360356" cy="5087383"/>
          </a:xfrm>
          <a:prstGeom prst="rect">
            <a:avLst/>
          </a:prstGeom>
        </p:spPr>
      </p:pic>
    </p:spTree>
    <p:extLst>
      <p:ext uri="{BB962C8B-B14F-4D97-AF65-F5344CB8AC3E}">
        <p14:creationId xmlns:p14="http://schemas.microsoft.com/office/powerpoint/2010/main" val="39601103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oogle Shape;84;p13" descr="image.png">
            <a:extLst>
              <a:ext uri="{FF2B5EF4-FFF2-40B4-BE49-F238E27FC236}">
                <a16:creationId xmlns:a16="http://schemas.microsoft.com/office/drawing/2014/main" id="{1A3EA47A-7222-FEBF-0D8F-793D2CD6AA37}"/>
              </a:ext>
            </a:extLst>
          </p:cNvPr>
          <p:cNvPicPr preferRelativeResize="0"/>
          <p:nvPr/>
        </p:nvPicPr>
        <p:blipFill rotWithShape="1">
          <a:blip r:embed="rId2">
            <a:alphaModFix/>
          </a:blip>
          <a:srcRect/>
          <a:stretch/>
        </p:blipFill>
        <p:spPr>
          <a:xfrm>
            <a:off x="0" y="0"/>
            <a:ext cx="12192000" cy="6858000"/>
          </a:xfrm>
          <a:prstGeom prst="rect">
            <a:avLst/>
          </a:prstGeom>
          <a:noFill/>
          <a:ln>
            <a:noFill/>
          </a:ln>
        </p:spPr>
      </p:pic>
      <p:pic>
        <p:nvPicPr>
          <p:cNvPr id="6" name="Google Shape;225;p22" descr="image.png">
            <a:extLst>
              <a:ext uri="{FF2B5EF4-FFF2-40B4-BE49-F238E27FC236}">
                <a16:creationId xmlns:a16="http://schemas.microsoft.com/office/drawing/2014/main" id="{8ADD5BDA-6050-C080-30E7-F24605D29022}"/>
              </a:ext>
            </a:extLst>
          </p:cNvPr>
          <p:cNvPicPr preferRelativeResize="0"/>
          <p:nvPr/>
        </p:nvPicPr>
        <p:blipFill rotWithShape="1">
          <a:blip r:embed="rId3">
            <a:alphaModFix/>
          </a:blip>
          <a:srcRect/>
          <a:stretch/>
        </p:blipFill>
        <p:spPr>
          <a:xfrm>
            <a:off x="0" y="6778113"/>
            <a:ext cx="12192000" cy="114300"/>
          </a:xfrm>
          <a:prstGeom prst="rect">
            <a:avLst/>
          </a:prstGeom>
          <a:noFill/>
          <a:ln>
            <a:noFill/>
          </a:ln>
        </p:spPr>
      </p:pic>
      <p:sp>
        <p:nvSpPr>
          <p:cNvPr id="7" name="Google Shape;117;p15">
            <a:extLst>
              <a:ext uri="{FF2B5EF4-FFF2-40B4-BE49-F238E27FC236}">
                <a16:creationId xmlns:a16="http://schemas.microsoft.com/office/drawing/2014/main" id="{452A3F26-2FC3-483E-9784-98EBA6FA644F}"/>
              </a:ext>
            </a:extLst>
          </p:cNvPr>
          <p:cNvSpPr/>
          <p:nvPr/>
        </p:nvSpPr>
        <p:spPr>
          <a:xfrm flipV="1">
            <a:off x="571500" y="1181098"/>
            <a:ext cx="11049000" cy="45719"/>
          </a:xfrm>
          <a:prstGeom prst="roundRect">
            <a:avLst>
              <a:gd name="adj" fmla="val 50000"/>
            </a:avLst>
          </a:prstGeom>
          <a:solidFill>
            <a:srgbClr val="EAB30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 name="TextBox 7">
            <a:extLst>
              <a:ext uri="{FF2B5EF4-FFF2-40B4-BE49-F238E27FC236}">
                <a16:creationId xmlns:a16="http://schemas.microsoft.com/office/drawing/2014/main" id="{B0313BE3-7C2F-C9CA-8295-F44937218151}"/>
              </a:ext>
            </a:extLst>
          </p:cNvPr>
          <p:cNvSpPr txBox="1"/>
          <p:nvPr/>
        </p:nvSpPr>
        <p:spPr>
          <a:xfrm>
            <a:off x="3923071" y="3126658"/>
            <a:ext cx="4896464" cy="1015663"/>
          </a:xfrm>
          <a:prstGeom prst="rect">
            <a:avLst/>
          </a:prstGeom>
          <a:noFill/>
        </p:spPr>
        <p:txBody>
          <a:bodyPr wrap="square" rtlCol="0">
            <a:spAutoFit/>
          </a:bodyPr>
          <a:lstStyle/>
          <a:p>
            <a:r>
              <a:rPr lang="en-IN" sz="6000" dirty="0">
                <a:solidFill>
                  <a:srgbClr val="002060"/>
                </a:solidFill>
              </a:rPr>
              <a:t>Thank you</a:t>
            </a:r>
          </a:p>
        </p:txBody>
      </p:sp>
    </p:spTree>
    <p:extLst>
      <p:ext uri="{BB962C8B-B14F-4D97-AF65-F5344CB8AC3E}">
        <p14:creationId xmlns:p14="http://schemas.microsoft.com/office/powerpoint/2010/main" val="1879237178"/>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582</TotalTime>
  <Words>1235</Words>
  <Application>Microsoft Office PowerPoint</Application>
  <PresentationFormat>Widescreen</PresentationFormat>
  <Paragraphs>150</Paragraphs>
  <Slides>31</Slides>
  <Notes>17</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31</vt:i4>
      </vt:variant>
    </vt:vector>
  </HeadingPairs>
  <TitlesOfParts>
    <vt:vector size="42" baseType="lpstr">
      <vt:lpstr>Arial</vt:lpstr>
      <vt:lpstr>Wingdings</vt:lpstr>
      <vt:lpstr>Arial Unicode MS</vt:lpstr>
      <vt:lpstr>Arial Rounded MT Bold</vt:lpstr>
      <vt:lpstr>Times New Roman</vt:lpstr>
      <vt:lpstr>Open Sans</vt:lpstr>
      <vt:lpstr>Open Sans SemiBold</vt:lpstr>
      <vt:lpstr>Courier New</vt:lpstr>
      <vt:lpstr>Montserrat</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Pavithra Konathala</dc:creator>
  <cp:lastModifiedBy>Vaishnavi Anumalasetty</cp:lastModifiedBy>
  <cp:revision>21</cp:revision>
  <dcterms:modified xsi:type="dcterms:W3CDTF">2026-01-07T15:44:43Z</dcterms:modified>
</cp:coreProperties>
</file>